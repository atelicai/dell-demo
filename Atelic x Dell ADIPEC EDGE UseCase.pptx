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9252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and attract loop. Open with the picture: three methane plumes over a gas facility. Atelic has boxed every plume, scored its confidence and traced the biggest one to a single valve: XV-2104 on the K-201 compressor discharge. Line: "Your cameras can show you this. Our agents tell you which valve it is, how much it is costing you, and what to do about it, all on a Dell server at the site." Then go to the story slide. Before the show: confirm the image licence and add its credit.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Everyone at ADIPEC is showing a drilling copilot. We are showing something every operator deals with every day: methane. This is the Emissions Management use case from the Dell AI Factory for Energy, built and running. Key line: detection is solved. Your gas camera vendor can already tell you there is a plume. What nobody does is close the loop: which valve, how much, what to do, who approves, and the compliance record. That is steps 2 to 6, and that is Atelic. Detect: we plug into the gas cameras the site already owns; we partner with camera vendors, we do not compete with them. The vision agent runs on the NVIDIA Video Search and Summarization blueprint and cross-checks detectors and DCS trends. Locate: the Atelic knowledge graph knows which valve sits on which line, upstream of which compressor. Quantify: a measured, uncertainty-bounded rate, as OGMP 2.0 Level 4 and 5 reporting asks for. Plan and Approve: agentic RAG with a Nemotron reasoning model drafts the isolation and work order; NeMo Guardrails stop any action on plant equipment until a human approves. Report: the compliance record is written automatically with every source cited. Times and tags are illustrative for the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Left: the data the site already has. We connect to the DCS or SCADA over standard protocols such as OPC UA, plus existing gas cameras, detectors, meters, the CMMS and the engineering documents. Centre, from the bottom up. Dell NativeEdge deploys and manages the whole stack, zero-touch, across every site. Dell PowerEdge XR7620 is the rugged edge server at the site. NVIDIA AI Enterprise provides the building blocks: NIM for reasoning and vision models, Speech NIM for Arabic and English voice, NeMo Retriever for document search, NeMo Guardrails for action safety, and the Video Search and Summarization blueprint for camera feeds. On top, Atelic: the plant knowledge graph with OT connectors, and the agent team. This is the part that makes generic AI building blocks understand a gas plant. Right: what comes out is not a dashboard, it is work done. Why the edge: data sovereignty is a board-level topic in this region, remote sites have poor connectivity, and you do not want a cloud round trip between seeing a leak and acting on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run the booth (about 60 seconds to introduce, then hand over). Hero moment, left screen: this is the moment that shows the difference from camera vendors. A camera sees a plume; only the plant knowledge graph knows what that valve is, what it connects to and what happened to it last time. Invite a visitor to the mic. They ask a question in Arabic or English. Speech NIM transcribes it locally. The Atelic graph agent walks the plant knowledge graph and the path lights up on the P&amp;ID. The answer comes back on screen and spoken, with every source cited. Starter questions: "Why is K-201 leaking, and what happened last time?" "Which other valves of this type are on site?" "What permit do I need to isolate it?" Glass box, right screen: always on. It shows each agent hand-off, the tools and data each agent touched, the guardrail decisions, and GPU load on the Dell server. Note for the team: Arabic speech recognition is listed in the NVIDIA Speech NIM support matrix. Confirm the Arabic voice reply before the show; if it is not available, reply in Arabic text on screen with an English voice.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78" b="78"/>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0A0A0A">
                  <a:alpha val="55000"/>
                </a:srgbClr>
              </a:gs>
              <a:gs pos="55000">
                <a:srgbClr val="0A0A0A">
                  <a:alpha val="0"/>
                </a:srgbClr>
              </a:gs>
            </a:gsLst>
            <a:lin ang="0" scaled="0"/>
          </a:gradFill>
          <a:ln/>
        </p:spPr>
        <p:txBody>
          <a:bodyPr/>
          <a:lstStyle/>
          <a:p>
            <a:endParaRPr lang="en-DE"/>
          </a:p>
        </p:txBody>
      </p:sp>
      <p:sp>
        <p:nvSpPr>
          <p:cNvPr id="4" name="Shape 1"/>
          <p:cNvSpPr/>
          <p:nvPr/>
        </p:nvSpPr>
        <p:spPr>
          <a:xfrm>
            <a:off x="0" y="0"/>
            <a:ext cx="18288000" cy="133350"/>
          </a:xfrm>
          <a:prstGeom prst="rect">
            <a:avLst/>
          </a:prstGeom>
          <a:solidFill>
            <a:srgbClr val="E63232"/>
          </a:solidFill>
          <a:ln/>
        </p:spPr>
        <p:txBody>
          <a:bodyPr/>
          <a:lstStyle/>
          <a:p>
            <a:endParaRPr lang="en-DE"/>
          </a:p>
        </p:txBody>
      </p:sp>
      <p:sp>
        <p:nvSpPr>
          <p:cNvPr id="5" name="Shape 2"/>
          <p:cNvSpPr/>
          <p:nvPr/>
        </p:nvSpPr>
        <p:spPr>
          <a:xfrm>
            <a:off x="10991850" y="1390650"/>
            <a:ext cx="5391150" cy="3600450"/>
          </a:xfrm>
          <a:prstGeom prst="rect">
            <a:avLst/>
          </a:prstGeom>
          <a:ln w="28575">
            <a:solidFill>
              <a:srgbClr val="E63232"/>
            </a:solidFill>
            <a:prstDash val="solid"/>
          </a:ln>
        </p:spPr>
        <p:txBody>
          <a:bodyPr/>
          <a:lstStyle/>
          <a:p>
            <a:endParaRPr lang="en-DE"/>
          </a:p>
        </p:txBody>
      </p:sp>
      <p:sp>
        <p:nvSpPr>
          <p:cNvPr id="6" name="Shape 3"/>
          <p:cNvSpPr/>
          <p:nvPr/>
        </p:nvSpPr>
        <p:spPr>
          <a:xfrm>
            <a:off x="10972800" y="933450"/>
            <a:ext cx="3322811" cy="438150"/>
          </a:xfrm>
          <a:prstGeom prst="rect">
            <a:avLst/>
          </a:prstGeom>
          <a:solidFill>
            <a:srgbClr val="E63232"/>
          </a:solidFill>
          <a:ln/>
        </p:spPr>
        <p:txBody>
          <a:bodyPr/>
          <a:lstStyle/>
          <a:p>
            <a:endParaRPr lang="en-DE"/>
          </a:p>
        </p:txBody>
      </p:sp>
      <p:sp>
        <p:nvSpPr>
          <p:cNvPr id="7" name="Text 4"/>
          <p:cNvSpPr/>
          <p:nvPr/>
        </p:nvSpPr>
        <p:spPr>
          <a:xfrm>
            <a:off x="11125200" y="933450"/>
            <a:ext cx="3117695" cy="476250"/>
          </a:xfrm>
          <a:prstGeom prst="rect">
            <a:avLst/>
          </a:prstGeom>
          <a:noFill/>
          <a:ln/>
        </p:spPr>
        <p:txBody>
          <a:bodyPr wrap="square" lIns="25400" tIns="25400" rIns="25400" bIns="25400" rtlCol="0" anchor="ctr">
            <a:normAutofit/>
          </a:bodyP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METHANE PLUME 1 · 0.93</a:t>
            </a:r>
            <a:endParaRPr lang="en-US" sz="1800" dirty="0"/>
          </a:p>
        </p:txBody>
      </p:sp>
      <p:sp>
        <p:nvSpPr>
          <p:cNvPr id="8" name="Shape 5"/>
          <p:cNvSpPr/>
          <p:nvPr/>
        </p:nvSpPr>
        <p:spPr>
          <a:xfrm>
            <a:off x="419100" y="1733550"/>
            <a:ext cx="6019800" cy="3333750"/>
          </a:xfrm>
          <a:prstGeom prst="rect">
            <a:avLst/>
          </a:prstGeom>
          <a:ln w="28575">
            <a:solidFill>
              <a:srgbClr val="E63232"/>
            </a:solidFill>
            <a:prstDash val="solid"/>
          </a:ln>
        </p:spPr>
        <p:txBody>
          <a:bodyPr/>
          <a:lstStyle/>
          <a:p>
            <a:endParaRPr lang="en-DE"/>
          </a:p>
        </p:txBody>
      </p:sp>
      <p:sp>
        <p:nvSpPr>
          <p:cNvPr id="9" name="Shape 6"/>
          <p:cNvSpPr/>
          <p:nvPr/>
        </p:nvSpPr>
        <p:spPr>
          <a:xfrm>
            <a:off x="419100" y="1295400"/>
            <a:ext cx="2225353" cy="438150"/>
          </a:xfrm>
          <a:prstGeom prst="rect">
            <a:avLst/>
          </a:prstGeom>
          <a:solidFill>
            <a:srgbClr val="E63232"/>
          </a:solidFill>
          <a:ln/>
        </p:spPr>
        <p:txBody>
          <a:bodyPr/>
          <a:lstStyle/>
          <a:p>
            <a:endParaRPr lang="en-DE"/>
          </a:p>
        </p:txBody>
      </p:sp>
      <p:sp>
        <p:nvSpPr>
          <p:cNvPr id="10" name="Text 7"/>
          <p:cNvSpPr/>
          <p:nvPr/>
        </p:nvSpPr>
        <p:spPr>
          <a:xfrm>
            <a:off x="571500" y="1295400"/>
            <a:ext cx="1996753" cy="476250"/>
          </a:xfrm>
          <a:prstGeom prst="rect">
            <a:avLst/>
          </a:prstGeom>
          <a:noFill/>
          <a:ln/>
        </p:spPr>
        <p:txBody>
          <a:bodyPr wrap="square" lIns="25400" tIns="25400" rIns="25400" bIns="25400" rtlCol="0" anchor="ctr">
            <a:normAutofit/>
          </a:bodyP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PLUME 2 · 0.88</a:t>
            </a:r>
            <a:endParaRPr lang="en-US" sz="1800" dirty="0"/>
          </a:p>
        </p:txBody>
      </p:sp>
      <p:sp>
        <p:nvSpPr>
          <p:cNvPr id="11" name="Shape 8"/>
          <p:cNvSpPr/>
          <p:nvPr/>
        </p:nvSpPr>
        <p:spPr>
          <a:xfrm>
            <a:off x="9886950" y="7715250"/>
            <a:ext cx="3067050" cy="1352550"/>
          </a:xfrm>
          <a:prstGeom prst="rect">
            <a:avLst/>
          </a:prstGeom>
          <a:ln w="28575">
            <a:solidFill>
              <a:srgbClr val="E63232"/>
            </a:solidFill>
            <a:prstDash val="solid"/>
          </a:ln>
        </p:spPr>
        <p:txBody>
          <a:bodyPr/>
          <a:lstStyle/>
          <a:p>
            <a:endParaRPr lang="en-DE"/>
          </a:p>
        </p:txBody>
      </p:sp>
      <p:sp>
        <p:nvSpPr>
          <p:cNvPr id="12" name="Shape 9"/>
          <p:cNvSpPr/>
          <p:nvPr/>
        </p:nvSpPr>
        <p:spPr>
          <a:xfrm>
            <a:off x="9886950" y="7277100"/>
            <a:ext cx="2225353" cy="438150"/>
          </a:xfrm>
          <a:prstGeom prst="rect">
            <a:avLst/>
          </a:prstGeom>
          <a:solidFill>
            <a:srgbClr val="E63232"/>
          </a:solidFill>
          <a:ln/>
        </p:spPr>
        <p:txBody>
          <a:bodyPr/>
          <a:lstStyle/>
          <a:p>
            <a:endParaRPr lang="en-DE"/>
          </a:p>
        </p:txBody>
      </p:sp>
      <p:sp>
        <p:nvSpPr>
          <p:cNvPr id="13" name="Text 10"/>
          <p:cNvSpPr/>
          <p:nvPr/>
        </p:nvSpPr>
        <p:spPr>
          <a:xfrm>
            <a:off x="10039350" y="7277100"/>
            <a:ext cx="1996753" cy="476250"/>
          </a:xfrm>
          <a:prstGeom prst="rect">
            <a:avLst/>
          </a:prstGeom>
          <a:noFill/>
          <a:ln/>
        </p:spPr>
        <p:txBody>
          <a:bodyPr wrap="square" lIns="25400" tIns="25400" rIns="25400" bIns="25400" rtlCol="0" anchor="ctr">
            <a:normAutofit/>
          </a:bodyP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PLUME 3 · 0.71</a:t>
            </a:r>
            <a:endParaRPr lang="en-US" sz="1800" dirty="0"/>
          </a:p>
        </p:txBody>
      </p:sp>
      <p:sp>
        <p:nvSpPr>
          <p:cNvPr id="14" name="Shape 11"/>
          <p:cNvSpPr/>
          <p:nvPr/>
        </p:nvSpPr>
        <p:spPr>
          <a:xfrm>
            <a:off x="11315700" y="3638550"/>
            <a:ext cx="438150" cy="438150"/>
          </a:xfrm>
          <a:prstGeom prst="ellipse">
            <a:avLst/>
          </a:prstGeom>
          <a:ln w="28575">
            <a:solidFill>
              <a:srgbClr val="00B4D8"/>
            </a:solidFill>
            <a:prstDash val="solid"/>
          </a:ln>
        </p:spPr>
        <p:txBody>
          <a:bodyPr/>
          <a:lstStyle/>
          <a:p>
            <a:endParaRPr lang="en-DE"/>
          </a:p>
        </p:txBody>
      </p:sp>
      <p:sp>
        <p:nvSpPr>
          <p:cNvPr id="15" name="Shape 12"/>
          <p:cNvSpPr/>
          <p:nvPr/>
        </p:nvSpPr>
        <p:spPr>
          <a:xfrm>
            <a:off x="11458575" y="3781425"/>
            <a:ext cx="152400" cy="152400"/>
          </a:xfrm>
          <a:prstGeom prst="ellipse">
            <a:avLst/>
          </a:prstGeom>
          <a:solidFill>
            <a:srgbClr val="00B4D8"/>
          </a:solidFill>
          <a:ln/>
        </p:spPr>
        <p:txBody>
          <a:bodyPr/>
          <a:lstStyle/>
          <a:p>
            <a:endParaRPr lang="en-DE"/>
          </a:p>
        </p:txBody>
      </p:sp>
      <p:sp>
        <p:nvSpPr>
          <p:cNvPr id="16" name="Shape 13"/>
          <p:cNvSpPr/>
          <p:nvPr/>
        </p:nvSpPr>
        <p:spPr>
          <a:xfrm>
            <a:off x="11515725" y="4076700"/>
            <a:ext cx="38100" cy="1314450"/>
          </a:xfrm>
          <a:prstGeom prst="rect">
            <a:avLst/>
          </a:prstGeom>
          <a:solidFill>
            <a:srgbClr val="00B4D8"/>
          </a:solidFill>
          <a:ln/>
        </p:spPr>
        <p:txBody>
          <a:bodyPr/>
          <a:lstStyle/>
          <a:p>
            <a:endParaRPr lang="en-DE"/>
          </a:p>
        </p:txBody>
      </p:sp>
      <p:sp>
        <p:nvSpPr>
          <p:cNvPr id="17" name="Shape 14"/>
          <p:cNvSpPr/>
          <p:nvPr/>
        </p:nvSpPr>
        <p:spPr>
          <a:xfrm>
            <a:off x="10991850" y="5391150"/>
            <a:ext cx="6332711" cy="533400"/>
          </a:xfrm>
          <a:prstGeom prst="rect">
            <a:avLst/>
          </a:prstGeom>
          <a:solidFill>
            <a:srgbClr val="0A0A0A"/>
          </a:solidFill>
          <a:ln w="19050">
            <a:solidFill>
              <a:srgbClr val="00B4D8"/>
            </a:solidFill>
            <a:prstDash val="solid"/>
          </a:ln>
        </p:spPr>
        <p:txBody>
          <a:bodyPr/>
          <a:lstStyle/>
          <a:p>
            <a:endParaRPr lang="en-DE"/>
          </a:p>
        </p:txBody>
      </p:sp>
      <p:sp>
        <p:nvSpPr>
          <p:cNvPr id="18" name="Text 15"/>
          <p:cNvSpPr/>
          <p:nvPr/>
        </p:nvSpPr>
        <p:spPr>
          <a:xfrm>
            <a:off x="11201400" y="5526881"/>
            <a:ext cx="2585732"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00B4D8"/>
                </a:solidFill>
                <a:latin typeface="Arial" pitchFamily="34" charset="0"/>
                <a:ea typeface="Arial" pitchFamily="34" charset="-122"/>
                <a:cs typeface="Arial" pitchFamily="34" charset="-120"/>
              </a:rPr>
              <a:t>SOURCE TRACED</a:t>
            </a:r>
            <a:endParaRPr lang="en-US" sz="1800" dirty="0"/>
          </a:p>
        </p:txBody>
      </p:sp>
      <p:sp>
        <p:nvSpPr>
          <p:cNvPr id="19" name="Text 16"/>
          <p:cNvSpPr/>
          <p:nvPr/>
        </p:nvSpPr>
        <p:spPr>
          <a:xfrm>
            <a:off x="13685416" y="5529263"/>
            <a:ext cx="377255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XV-2104 · K-201 discharge</a:t>
            </a:r>
            <a:endParaRPr lang="en-US" sz="1800" dirty="0"/>
          </a:p>
        </p:txBody>
      </p:sp>
      <p:sp>
        <p:nvSpPr>
          <p:cNvPr id="20" name="Shape 17"/>
          <p:cNvSpPr/>
          <p:nvPr/>
        </p:nvSpPr>
        <p:spPr>
          <a:xfrm rot="2700000">
            <a:off x="1219200" y="5619750"/>
            <a:ext cx="133350" cy="133350"/>
          </a:xfrm>
          <a:prstGeom prst="rect">
            <a:avLst/>
          </a:prstGeom>
          <a:solidFill>
            <a:srgbClr val="E63232"/>
          </a:solidFill>
          <a:ln/>
        </p:spPr>
        <p:txBody>
          <a:bodyPr/>
          <a:lstStyle/>
          <a:p>
            <a:endParaRPr lang="en-DE"/>
          </a:p>
        </p:txBody>
      </p:sp>
      <p:sp>
        <p:nvSpPr>
          <p:cNvPr id="21" name="Text 18"/>
          <p:cNvSpPr/>
          <p:nvPr/>
        </p:nvSpPr>
        <p:spPr>
          <a:xfrm>
            <a:off x="1485900" y="5548313"/>
            <a:ext cx="5544990" cy="314325"/>
          </a:xfrm>
          <a:prstGeom prst="rect">
            <a:avLst/>
          </a:prstGeom>
          <a:noFill/>
          <a:ln/>
        </p:spPr>
        <p:txBody>
          <a:bodyPr wrap="square" lIns="0" tIns="0" rIns="0" bIns="0" rtlCol="0" anchor="t">
            <a:normAutofit/>
          </a:bodyPr>
          <a:lstStyle/>
          <a:p>
            <a:pPr marL="0" indent="0" algn="l">
              <a:buNone/>
            </a:pPr>
            <a:r>
              <a:rPr lang="en-US" sz="1950" b="1" kern="0" spc="273" dirty="0">
                <a:solidFill>
                  <a:srgbClr val="FFFFFF"/>
                </a:solidFill>
                <a:latin typeface="Arial" pitchFamily="34" charset="0"/>
                <a:ea typeface="Arial" pitchFamily="34" charset="-122"/>
                <a:cs typeface="Arial" pitchFamily="34" charset="-120"/>
              </a:rPr>
              <a:t>ATELIC EDGE ON DELL AI FACTORY</a:t>
            </a:r>
            <a:endParaRPr lang="en-US" sz="1950" dirty="0"/>
          </a:p>
        </p:txBody>
      </p:sp>
      <p:sp>
        <p:nvSpPr>
          <p:cNvPr id="22" name="Text 19"/>
          <p:cNvSpPr/>
          <p:nvPr/>
        </p:nvSpPr>
        <p:spPr>
          <a:xfrm>
            <a:off x="1219200" y="6019800"/>
            <a:ext cx="8633460" cy="1981200"/>
          </a:xfrm>
          <a:prstGeom prst="rect">
            <a:avLst/>
          </a:prstGeom>
          <a:noFill/>
          <a:ln/>
        </p:spPr>
        <p:txBody>
          <a:bodyPr wrap="square" lIns="25400" tIns="25400" rIns="25400" bIns="25400" rtlCol="0" anchor="t">
            <a:normAutofit/>
          </a:bodyPr>
          <a:lstStyle/>
          <a:p>
            <a:pPr marL="0" indent="0" algn="l">
              <a:lnSpc>
                <a:spcPct val="87179"/>
              </a:lnSpc>
              <a:buNone/>
            </a:pPr>
            <a:r>
              <a:rPr lang="en-US" sz="5100" b="1" kern="0" spc="-51" dirty="0">
                <a:solidFill>
                  <a:srgbClr val="FFFFFF"/>
                </a:solidFill>
                <a:latin typeface="Arial" pitchFamily="34" charset="0"/>
                <a:ea typeface="Arial" pitchFamily="34" charset="-122"/>
                <a:cs typeface="Arial" pitchFamily="34" charset="-120"/>
              </a:rPr>
              <a:t>EVERY METHANE LEAK, </a:t>
            </a:r>
            <a:r>
              <a:rPr lang="en-US" sz="5100" b="1" kern="0" spc="-51" dirty="0">
                <a:solidFill>
                  <a:srgbClr val="E63232"/>
                </a:solidFill>
                <a:latin typeface="Arial" pitchFamily="34" charset="0"/>
                <a:ea typeface="Arial" pitchFamily="34" charset="-122"/>
                <a:cs typeface="Arial" pitchFamily="34" charset="-120"/>
              </a:rPr>
              <a:t>FOUND AND FIXED AT THE EDGE</a:t>
            </a:r>
            <a:endParaRPr lang="en-US" sz="5100" dirty="0"/>
          </a:p>
        </p:txBody>
      </p:sp>
      <p:sp>
        <p:nvSpPr>
          <p:cNvPr id="23" name="Shape 20"/>
          <p:cNvSpPr/>
          <p:nvPr/>
        </p:nvSpPr>
        <p:spPr>
          <a:xfrm>
            <a:off x="1219200" y="8134350"/>
            <a:ext cx="2286000" cy="57150"/>
          </a:xfrm>
          <a:prstGeom prst="rect">
            <a:avLst/>
          </a:prstGeom>
          <a:solidFill>
            <a:srgbClr val="E63232"/>
          </a:solidFill>
          <a:ln/>
        </p:spPr>
        <p:txBody>
          <a:bodyPr/>
          <a:lstStyle/>
          <a:p>
            <a:endParaRPr lang="en-DE"/>
          </a:p>
        </p:txBody>
      </p:sp>
      <p:sp>
        <p:nvSpPr>
          <p:cNvPr id="24" name="Text 21"/>
          <p:cNvSpPr/>
          <p:nvPr/>
        </p:nvSpPr>
        <p:spPr>
          <a:xfrm>
            <a:off x="1219200" y="8420100"/>
            <a:ext cx="8423419" cy="434280"/>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400" dirty="0">
                <a:solidFill>
                  <a:srgbClr val="FFFFFF"/>
                </a:solidFill>
                <a:latin typeface="Arial" pitchFamily="34" charset="0"/>
                <a:ea typeface="Arial" pitchFamily="34" charset="-122"/>
                <a:cs typeface="Arial" pitchFamily="34" charset="-120"/>
              </a:rPr>
              <a:t>Agentic AI, live on Dell Edge. Come and ask it.</a:t>
            </a:r>
            <a:endParaRPr lang="en-US" sz="2400" dirty="0"/>
          </a:p>
        </p:txBody>
      </p:sp>
      <p:pic>
        <p:nvPicPr>
          <p:cNvPr id="25" name="Image 1" descr="preencoded.png"/>
          <p:cNvPicPr>
            <a:picLocks noChangeAspect="1"/>
          </p:cNvPicPr>
          <p:nvPr/>
        </p:nvPicPr>
        <p:blipFill>
          <a:blip r:embed="rId4"/>
          <a:stretch>
            <a:fillRect/>
          </a:stretch>
        </p:blipFill>
        <p:spPr>
          <a:xfrm>
            <a:off x="1219200" y="9163050"/>
            <a:ext cx="1706463" cy="533400"/>
          </a:xfrm>
          <a:prstGeom prst="rect">
            <a:avLst/>
          </a:prstGeom>
        </p:spPr>
      </p:pic>
      <p:sp>
        <p:nvSpPr>
          <p:cNvPr id="26" name="Text 22"/>
          <p:cNvSpPr/>
          <p:nvPr/>
        </p:nvSpPr>
        <p:spPr>
          <a:xfrm>
            <a:off x="3135213" y="9234488"/>
            <a:ext cx="276448" cy="428625"/>
          </a:xfrm>
          <a:prstGeom prst="rect">
            <a:avLst/>
          </a:prstGeom>
          <a:noFill/>
          <a:ln/>
        </p:spPr>
        <p:txBody>
          <a:bodyPr wrap="square" lIns="25400" tIns="25400" rIns="25400" bIns="25400" rtlCol="0" anchor="t">
            <a:normAutofit/>
          </a:bodyPr>
          <a:lstStyle/>
          <a:p>
            <a:pPr marL="0" indent="0" algn="l">
              <a:buNone/>
            </a:pPr>
            <a:r>
              <a:rPr lang="en-US" sz="2700" dirty="0">
                <a:solidFill>
                  <a:srgbClr val="A0A0A0"/>
                </a:solidFill>
                <a:latin typeface="Arial" pitchFamily="34" charset="0"/>
                <a:ea typeface="Arial" pitchFamily="34" charset="-122"/>
                <a:cs typeface="Arial" pitchFamily="34" charset="-120"/>
              </a:rPr>
              <a:t>×</a:t>
            </a:r>
            <a:endParaRPr lang="en-US" sz="2700" dirty="0"/>
          </a:p>
        </p:txBody>
      </p:sp>
      <p:pic>
        <p:nvPicPr>
          <p:cNvPr id="27" name="Image 2" descr="preencoded.png"/>
          <p:cNvPicPr>
            <a:picLocks noChangeAspect="1"/>
          </p:cNvPicPr>
          <p:nvPr/>
        </p:nvPicPr>
        <p:blipFill>
          <a:blip r:embed="rId5"/>
          <a:stretch>
            <a:fillRect/>
          </a:stretch>
        </p:blipFill>
        <p:spPr>
          <a:xfrm>
            <a:off x="3545012" y="9277350"/>
            <a:ext cx="2333104" cy="304800"/>
          </a:xfrm>
          <a:prstGeom prst="rect">
            <a:avLst/>
          </a:prstGeom>
        </p:spPr>
      </p:pic>
      <p:sp>
        <p:nvSpPr>
          <p:cNvPr id="28" name="Text 23"/>
          <p:cNvSpPr/>
          <p:nvPr/>
        </p:nvSpPr>
        <p:spPr>
          <a:xfrm>
            <a:off x="6316266" y="9286875"/>
            <a:ext cx="3104451" cy="323850"/>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Arial" pitchFamily="34" charset="0"/>
                <a:ea typeface="Arial" pitchFamily="34" charset="-122"/>
                <a:cs typeface="Arial" pitchFamily="34" charset="-120"/>
              </a:rPr>
              <a:t>ADIPEC 2026, Abu Dhabi</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E63232"/>
          </a:solidFill>
          <a:ln/>
        </p:spPr>
        <p:txBody>
          <a:bodyPr/>
          <a:lstStyle/>
          <a:p>
            <a:endParaRPr lang="en-DE"/>
          </a:p>
        </p:txBody>
      </p:sp>
      <p:sp>
        <p:nvSpPr>
          <p:cNvPr id="3" name="Text 1"/>
          <p:cNvSpPr/>
          <p:nvPr/>
        </p:nvSpPr>
        <p:spPr>
          <a:xfrm>
            <a:off x="1219200" y="723900"/>
            <a:ext cx="1743456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E63232"/>
                </a:solidFill>
                <a:latin typeface="Arial" pitchFamily="34" charset="0"/>
                <a:ea typeface="Arial" pitchFamily="34" charset="-122"/>
                <a:cs typeface="Arial" pitchFamily="34" charset="-120"/>
              </a:rPr>
              <a:t>ATELIC EDGE ON DELL AI FACTORY · OIL &amp; GAS</a:t>
            </a:r>
            <a:endParaRPr lang="en-US" sz="1800" dirty="0"/>
          </a:p>
        </p:txBody>
      </p:sp>
      <p:sp>
        <p:nvSpPr>
          <p:cNvPr id="4" name="Text 2"/>
          <p:cNvSpPr/>
          <p:nvPr/>
        </p:nvSpPr>
        <p:spPr>
          <a:xfrm>
            <a:off x="1219200" y="1176338"/>
            <a:ext cx="16325088" cy="1305967"/>
          </a:xfrm>
          <a:prstGeom prst="rect">
            <a:avLst/>
          </a:prstGeom>
          <a:noFill/>
          <a:ln/>
        </p:spPr>
        <p:txBody>
          <a:bodyPr wrap="square" lIns="25400" tIns="25400" rIns="25400" bIns="25400" rtlCol="0" anchor="t">
            <a:normAutofit/>
          </a:bodyPr>
          <a:lstStyle/>
          <a:p>
            <a:pPr marL="0" indent="0" algn="l">
              <a:lnSpc>
                <a:spcPct val="90558"/>
              </a:lnSpc>
              <a:buNone/>
            </a:pPr>
            <a:r>
              <a:rPr lang="en-US" sz="4800" b="1" kern="0" spc="-48" dirty="0">
                <a:solidFill>
                  <a:srgbClr val="0A0A0A"/>
                </a:solidFill>
                <a:latin typeface="Arial" pitchFamily="34" charset="0"/>
                <a:ea typeface="Arial" pitchFamily="34" charset="-122"/>
                <a:cs typeface="Arial" pitchFamily="34" charset="-120"/>
              </a:rPr>
              <a:t>METHANE LEAK TO FIX </a:t>
            </a:r>
            <a:r>
              <a:rPr lang="en-US" sz="4800" b="1" kern="0" spc="-48" dirty="0">
                <a:solidFill>
                  <a:srgbClr val="E63232"/>
                </a:solidFill>
                <a:latin typeface="Arial" pitchFamily="34" charset="0"/>
                <a:ea typeface="Arial" pitchFamily="34" charset="-122"/>
                <a:cs typeface="Arial" pitchFamily="34" charset="-120"/>
              </a:rPr>
              <a:t>IN MINUTES, NOT DAYS</a:t>
            </a:r>
            <a:endParaRPr lang="en-US" sz="4800" dirty="0"/>
          </a:p>
        </p:txBody>
      </p:sp>
      <p:sp>
        <p:nvSpPr>
          <p:cNvPr id="5" name="Text 3"/>
          <p:cNvSpPr/>
          <p:nvPr/>
        </p:nvSpPr>
        <p:spPr>
          <a:xfrm>
            <a:off x="1219200" y="2653754"/>
            <a:ext cx="1466850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2A2A2A"/>
                </a:solidFill>
                <a:latin typeface="Arial" pitchFamily="34" charset="0"/>
                <a:ea typeface="Arial" pitchFamily="34" charset="-122"/>
                <a:cs typeface="Arial" pitchFamily="34" charset="-120"/>
              </a:rPr>
              <a:t>Detection is solved. Closing the loop isn't. Alarm to fix, fully on a Dell Edge at the site.</a:t>
            </a:r>
            <a:endParaRPr lang="en-US" sz="2250" dirty="0"/>
          </a:p>
        </p:txBody>
      </p:sp>
      <p:sp>
        <p:nvSpPr>
          <p:cNvPr id="6" name="Shape 4"/>
          <p:cNvSpPr/>
          <p:nvPr/>
        </p:nvSpPr>
        <p:spPr>
          <a:xfrm>
            <a:off x="1219200" y="3830092"/>
            <a:ext cx="2482825" cy="28575"/>
          </a:xfrm>
          <a:prstGeom prst="rect">
            <a:avLst/>
          </a:prstGeom>
          <a:solidFill>
            <a:srgbClr val="D4D4D4"/>
          </a:solidFill>
          <a:ln/>
        </p:spPr>
        <p:txBody>
          <a:bodyPr/>
          <a:lstStyle/>
          <a:p>
            <a:endParaRPr lang="en-DE"/>
          </a:p>
        </p:txBody>
      </p:sp>
      <p:sp>
        <p:nvSpPr>
          <p:cNvPr id="7" name="Text 5"/>
          <p:cNvSpPr/>
          <p:nvPr/>
        </p:nvSpPr>
        <p:spPr>
          <a:xfrm>
            <a:off x="1219200" y="3472904"/>
            <a:ext cx="2559025"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6B6B6B"/>
                </a:solidFill>
                <a:latin typeface="Arial" pitchFamily="34" charset="0"/>
                <a:ea typeface="Arial" pitchFamily="34" charset="-122"/>
                <a:cs typeface="Arial" pitchFamily="34" charset="-120"/>
              </a:rPr>
              <a:t>YOUR CAMERAS</a:t>
            </a:r>
            <a:endParaRPr lang="en-US" sz="1800" dirty="0"/>
          </a:p>
        </p:txBody>
      </p:sp>
      <p:sp>
        <p:nvSpPr>
          <p:cNvPr id="8" name="Shape 6"/>
          <p:cNvSpPr/>
          <p:nvPr/>
        </p:nvSpPr>
        <p:spPr>
          <a:xfrm>
            <a:off x="3892525" y="3830092"/>
            <a:ext cx="13176200" cy="28575"/>
          </a:xfrm>
          <a:prstGeom prst="rect">
            <a:avLst/>
          </a:prstGeom>
          <a:solidFill>
            <a:srgbClr val="E63232"/>
          </a:solidFill>
          <a:ln/>
        </p:spPr>
        <p:txBody>
          <a:bodyPr/>
          <a:lstStyle/>
          <a:p>
            <a:endParaRPr lang="en-DE"/>
          </a:p>
        </p:txBody>
      </p:sp>
      <p:sp>
        <p:nvSpPr>
          <p:cNvPr id="9" name="Text 7"/>
          <p:cNvSpPr/>
          <p:nvPr/>
        </p:nvSpPr>
        <p:spPr>
          <a:xfrm>
            <a:off x="3892525" y="3472904"/>
            <a:ext cx="13571486"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E63232"/>
                </a:solidFill>
                <a:latin typeface="Arial" pitchFamily="34" charset="0"/>
                <a:ea typeface="Arial" pitchFamily="34" charset="-122"/>
                <a:cs typeface="Arial" pitchFamily="34" charset="-120"/>
              </a:rPr>
              <a:t>WHERE ATELIC CLOSES THE LOOP</a:t>
            </a:r>
            <a:endParaRPr lang="en-US" sz="1800" dirty="0"/>
          </a:p>
        </p:txBody>
      </p:sp>
      <p:sp>
        <p:nvSpPr>
          <p:cNvPr id="10" name="Shape 8"/>
          <p:cNvSpPr/>
          <p:nvPr/>
        </p:nvSpPr>
        <p:spPr>
          <a:xfrm>
            <a:off x="1219200" y="4030117"/>
            <a:ext cx="2482825" cy="3636318"/>
          </a:xfrm>
          <a:prstGeom prst="roundRect">
            <a:avLst>
              <a:gd name="adj" fmla="val 3069"/>
            </a:avLst>
          </a:prstGeom>
          <a:solidFill>
            <a:srgbClr val="FAFAFA"/>
          </a:solidFill>
          <a:ln w="9525">
            <a:solidFill>
              <a:srgbClr val="E5E5E5"/>
            </a:solidFill>
            <a:prstDash val="solid"/>
          </a:ln>
        </p:spPr>
        <p:txBody>
          <a:bodyPr/>
          <a:lstStyle/>
          <a:p>
            <a:endParaRPr lang="en-DE"/>
          </a:p>
        </p:txBody>
      </p:sp>
      <p:pic>
        <p:nvPicPr>
          <p:cNvPr id="11" name="Image 0" descr="preencoded.png"/>
          <p:cNvPicPr>
            <a:picLocks noChangeAspect="1"/>
          </p:cNvPicPr>
          <p:nvPr/>
        </p:nvPicPr>
        <p:blipFill>
          <a:blip r:embed="rId3">
            <a:alphaModFix amt="55000"/>
          </a:blip>
          <a:stretch>
            <a:fillRect/>
          </a:stretch>
        </p:blipFill>
        <p:spPr>
          <a:xfrm>
            <a:off x="1438275" y="4268242"/>
            <a:ext cx="323850" cy="323850"/>
          </a:xfrm>
          <a:prstGeom prst="rect">
            <a:avLst/>
          </a:prstGeom>
        </p:spPr>
      </p:pic>
      <p:sp>
        <p:nvSpPr>
          <p:cNvPr id="12" name="Text 9"/>
          <p:cNvSpPr/>
          <p:nvPr/>
        </p:nvSpPr>
        <p:spPr>
          <a:xfrm>
            <a:off x="2797001" y="4301579"/>
            <a:ext cx="762149"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6B6B6B"/>
                </a:solidFill>
                <a:latin typeface="Courier New" pitchFamily="34" charset="0"/>
                <a:ea typeface="Courier New" pitchFamily="34" charset="-122"/>
                <a:cs typeface="Courier New" pitchFamily="34" charset="-120"/>
              </a:rPr>
              <a:t>T+0 s</a:t>
            </a:r>
            <a:endParaRPr lang="en-US" sz="1800" dirty="0"/>
          </a:p>
        </p:txBody>
      </p:sp>
      <p:sp>
        <p:nvSpPr>
          <p:cNvPr id="13" name="Shape 10"/>
          <p:cNvSpPr/>
          <p:nvPr/>
        </p:nvSpPr>
        <p:spPr>
          <a:xfrm>
            <a:off x="1438275" y="4725442"/>
            <a:ext cx="419100" cy="419100"/>
          </a:xfrm>
          <a:prstGeom prst="ellipse">
            <a:avLst/>
          </a:prstGeom>
          <a:solidFill>
            <a:srgbClr val="6B6B6B"/>
          </a:solidFill>
          <a:ln/>
        </p:spPr>
        <p:txBody>
          <a:bodyPr/>
          <a:lstStyle/>
          <a:p>
            <a:endParaRPr lang="en-DE"/>
          </a:p>
        </p:txBody>
      </p:sp>
      <p:sp>
        <p:nvSpPr>
          <p:cNvPr id="14" name="Text 11"/>
          <p:cNvSpPr/>
          <p:nvPr/>
        </p:nvSpPr>
        <p:spPr>
          <a:xfrm>
            <a:off x="1400175" y="4725442"/>
            <a:ext cx="495300" cy="4572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5" name="Text 12"/>
          <p:cNvSpPr/>
          <p:nvPr/>
        </p:nvSpPr>
        <p:spPr>
          <a:xfrm>
            <a:off x="1971675" y="4770686"/>
            <a:ext cx="949672"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0A0A0A"/>
                </a:solidFill>
                <a:latin typeface="Arial" pitchFamily="34" charset="0"/>
                <a:ea typeface="Arial" pitchFamily="34" charset="-122"/>
                <a:cs typeface="Arial" pitchFamily="34" charset="-120"/>
              </a:rPr>
              <a:t>Detect</a:t>
            </a:r>
            <a:endParaRPr lang="en-US" sz="2250" dirty="0"/>
          </a:p>
        </p:txBody>
      </p:sp>
      <p:sp>
        <p:nvSpPr>
          <p:cNvPr id="16" name="Text 13"/>
          <p:cNvSpPr/>
          <p:nvPr/>
        </p:nvSpPr>
        <p:spPr>
          <a:xfrm>
            <a:off x="1438275" y="5277892"/>
            <a:ext cx="2120875" cy="1318022"/>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Uses your existing gas cameras. Vision agent confirms the plume.</a:t>
            </a:r>
            <a:endParaRPr lang="en-US" sz="1800" dirty="0"/>
          </a:p>
        </p:txBody>
      </p:sp>
      <p:sp>
        <p:nvSpPr>
          <p:cNvPr id="17" name="Shape 14"/>
          <p:cNvSpPr/>
          <p:nvPr/>
        </p:nvSpPr>
        <p:spPr>
          <a:xfrm>
            <a:off x="1438275" y="6691164"/>
            <a:ext cx="2044675" cy="9525"/>
          </a:xfrm>
          <a:prstGeom prst="rect">
            <a:avLst/>
          </a:prstGeom>
          <a:solidFill>
            <a:srgbClr val="E5E5E5"/>
          </a:solidFill>
          <a:ln/>
        </p:spPr>
        <p:txBody>
          <a:bodyPr/>
          <a:lstStyle/>
          <a:p>
            <a:endParaRPr lang="en-DE"/>
          </a:p>
        </p:txBody>
      </p:sp>
      <p:sp>
        <p:nvSpPr>
          <p:cNvPr id="18" name="Text 15"/>
          <p:cNvSpPr/>
          <p:nvPr/>
        </p:nvSpPr>
        <p:spPr>
          <a:xfrm>
            <a:off x="1438275" y="6834039"/>
            <a:ext cx="2120875"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b="1" dirty="0">
                <a:solidFill>
                  <a:srgbClr val="6B6B6B"/>
                </a:solidFill>
                <a:latin typeface="Arial" pitchFamily="34" charset="0"/>
                <a:ea typeface="Arial" pitchFamily="34" charset="-122"/>
                <a:cs typeface="Arial" pitchFamily="34" charset="-120"/>
              </a:rPr>
              <a:t>Your cameras + NVIDIA VSS</a:t>
            </a:r>
            <a:endParaRPr lang="en-US" sz="1800" dirty="0"/>
          </a:p>
        </p:txBody>
      </p:sp>
      <p:sp>
        <p:nvSpPr>
          <p:cNvPr id="19" name="Shape 16"/>
          <p:cNvSpPr/>
          <p:nvPr/>
        </p:nvSpPr>
        <p:spPr>
          <a:xfrm>
            <a:off x="3892525" y="4030117"/>
            <a:ext cx="2482825" cy="3636318"/>
          </a:xfrm>
          <a:prstGeom prst="roundRect">
            <a:avLst>
              <a:gd name="adj" fmla="val 3069"/>
            </a:avLst>
          </a:prstGeom>
          <a:solidFill>
            <a:srgbClr val="FFFFFF"/>
          </a:solidFill>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pic>
        <p:nvPicPr>
          <p:cNvPr id="20" name="Image 1" descr="preencoded.png"/>
          <p:cNvPicPr>
            <a:picLocks noChangeAspect="1"/>
          </p:cNvPicPr>
          <p:nvPr/>
        </p:nvPicPr>
        <p:blipFill>
          <a:blip r:embed="rId4"/>
          <a:stretch>
            <a:fillRect/>
          </a:stretch>
        </p:blipFill>
        <p:spPr>
          <a:xfrm>
            <a:off x="4111600" y="4268242"/>
            <a:ext cx="323850" cy="323850"/>
          </a:xfrm>
          <a:prstGeom prst="rect">
            <a:avLst/>
          </a:prstGeom>
        </p:spPr>
      </p:pic>
      <p:sp>
        <p:nvSpPr>
          <p:cNvPr id="21" name="Text 17"/>
          <p:cNvSpPr/>
          <p:nvPr/>
        </p:nvSpPr>
        <p:spPr>
          <a:xfrm>
            <a:off x="5333181" y="4301579"/>
            <a:ext cx="899294"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T+40 s</a:t>
            </a:r>
            <a:endParaRPr lang="en-US" sz="1800" dirty="0"/>
          </a:p>
        </p:txBody>
      </p:sp>
      <p:sp>
        <p:nvSpPr>
          <p:cNvPr id="22" name="Shape 18"/>
          <p:cNvSpPr/>
          <p:nvPr/>
        </p:nvSpPr>
        <p:spPr>
          <a:xfrm>
            <a:off x="4111600" y="4725442"/>
            <a:ext cx="419100" cy="419100"/>
          </a:xfrm>
          <a:prstGeom prst="ellipse">
            <a:avLst/>
          </a:prstGeom>
          <a:solidFill>
            <a:srgbClr val="E63232"/>
          </a:solidFill>
          <a:ln/>
        </p:spPr>
        <p:txBody>
          <a:bodyPr/>
          <a:lstStyle/>
          <a:p>
            <a:endParaRPr lang="en-DE"/>
          </a:p>
        </p:txBody>
      </p:sp>
      <p:sp>
        <p:nvSpPr>
          <p:cNvPr id="23" name="Text 19"/>
          <p:cNvSpPr/>
          <p:nvPr/>
        </p:nvSpPr>
        <p:spPr>
          <a:xfrm>
            <a:off x="4073500" y="4725442"/>
            <a:ext cx="495300" cy="4572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4" name="Text 20"/>
          <p:cNvSpPr/>
          <p:nvPr/>
        </p:nvSpPr>
        <p:spPr>
          <a:xfrm>
            <a:off x="4645000" y="4770686"/>
            <a:ext cx="997223"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0A0A0A"/>
                </a:solidFill>
                <a:latin typeface="Arial" pitchFamily="34" charset="0"/>
                <a:ea typeface="Arial" pitchFamily="34" charset="-122"/>
                <a:cs typeface="Arial" pitchFamily="34" charset="-120"/>
              </a:rPr>
              <a:t>Locate</a:t>
            </a:r>
            <a:endParaRPr lang="en-US" sz="2250" dirty="0"/>
          </a:p>
        </p:txBody>
      </p:sp>
      <p:sp>
        <p:nvSpPr>
          <p:cNvPr id="25" name="Text 21"/>
          <p:cNvSpPr/>
          <p:nvPr/>
        </p:nvSpPr>
        <p:spPr>
          <a:xfrm>
            <a:off x="4111600" y="5277892"/>
            <a:ext cx="2120875" cy="1318022"/>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Graph agent traces it to valve XV-2104 on compressor K-201.</a:t>
            </a:r>
            <a:endParaRPr lang="en-US" sz="1800" dirty="0"/>
          </a:p>
        </p:txBody>
      </p:sp>
      <p:sp>
        <p:nvSpPr>
          <p:cNvPr id="26" name="Shape 22"/>
          <p:cNvSpPr/>
          <p:nvPr/>
        </p:nvSpPr>
        <p:spPr>
          <a:xfrm>
            <a:off x="4111600" y="6691164"/>
            <a:ext cx="2044675" cy="9525"/>
          </a:xfrm>
          <a:prstGeom prst="rect">
            <a:avLst/>
          </a:prstGeom>
          <a:solidFill>
            <a:srgbClr val="E5E5E5"/>
          </a:solidFill>
          <a:ln/>
        </p:spPr>
        <p:txBody>
          <a:bodyPr/>
          <a:lstStyle/>
          <a:p>
            <a:endParaRPr lang="en-DE"/>
          </a:p>
        </p:txBody>
      </p:sp>
      <p:sp>
        <p:nvSpPr>
          <p:cNvPr id="27" name="Text 23"/>
          <p:cNvSpPr/>
          <p:nvPr/>
        </p:nvSpPr>
        <p:spPr>
          <a:xfrm>
            <a:off x="4111600" y="6834039"/>
            <a:ext cx="2120875"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b="1" dirty="0">
                <a:solidFill>
                  <a:srgbClr val="007A99"/>
                </a:solidFill>
                <a:latin typeface="Arial" pitchFamily="34" charset="0"/>
                <a:ea typeface="Arial" pitchFamily="34" charset="-122"/>
                <a:cs typeface="Arial" pitchFamily="34" charset="-120"/>
              </a:rPr>
              <a:t>Atelic graph + NeMo Retriever</a:t>
            </a:r>
            <a:endParaRPr lang="en-US" sz="1800" dirty="0"/>
          </a:p>
        </p:txBody>
      </p:sp>
      <p:sp>
        <p:nvSpPr>
          <p:cNvPr id="28" name="Shape 24"/>
          <p:cNvSpPr/>
          <p:nvPr/>
        </p:nvSpPr>
        <p:spPr>
          <a:xfrm>
            <a:off x="6565850" y="4030117"/>
            <a:ext cx="2482825" cy="3636318"/>
          </a:xfrm>
          <a:prstGeom prst="roundRect">
            <a:avLst>
              <a:gd name="adj" fmla="val 3069"/>
            </a:avLst>
          </a:prstGeom>
          <a:solidFill>
            <a:srgbClr val="FFFFFF"/>
          </a:solidFill>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pic>
        <p:nvPicPr>
          <p:cNvPr id="29" name="Image 2" descr="preencoded.png"/>
          <p:cNvPicPr>
            <a:picLocks noChangeAspect="1"/>
          </p:cNvPicPr>
          <p:nvPr/>
        </p:nvPicPr>
        <p:blipFill>
          <a:blip r:embed="rId5"/>
          <a:stretch>
            <a:fillRect/>
          </a:stretch>
        </p:blipFill>
        <p:spPr>
          <a:xfrm>
            <a:off x="6784925" y="4268242"/>
            <a:ext cx="323850" cy="323850"/>
          </a:xfrm>
          <a:prstGeom prst="rect">
            <a:avLst/>
          </a:prstGeom>
        </p:spPr>
      </p:pic>
      <p:sp>
        <p:nvSpPr>
          <p:cNvPr id="30" name="Text 25"/>
          <p:cNvSpPr/>
          <p:nvPr/>
        </p:nvSpPr>
        <p:spPr>
          <a:xfrm>
            <a:off x="7869287" y="4301579"/>
            <a:ext cx="1036513"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T+2 min</a:t>
            </a:r>
            <a:endParaRPr lang="en-US" sz="1800" dirty="0"/>
          </a:p>
        </p:txBody>
      </p:sp>
      <p:sp>
        <p:nvSpPr>
          <p:cNvPr id="31" name="Shape 26"/>
          <p:cNvSpPr/>
          <p:nvPr/>
        </p:nvSpPr>
        <p:spPr>
          <a:xfrm>
            <a:off x="6784925" y="4725442"/>
            <a:ext cx="419100" cy="419100"/>
          </a:xfrm>
          <a:prstGeom prst="ellipse">
            <a:avLst/>
          </a:prstGeom>
          <a:solidFill>
            <a:srgbClr val="E63232"/>
          </a:solidFill>
          <a:ln/>
        </p:spPr>
        <p:txBody>
          <a:bodyPr/>
          <a:lstStyle/>
          <a:p>
            <a:endParaRPr lang="en-DE"/>
          </a:p>
        </p:txBody>
      </p:sp>
      <p:sp>
        <p:nvSpPr>
          <p:cNvPr id="32" name="Text 27"/>
          <p:cNvSpPr/>
          <p:nvPr/>
        </p:nvSpPr>
        <p:spPr>
          <a:xfrm>
            <a:off x="6746825" y="4725442"/>
            <a:ext cx="495300" cy="4572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33" name="Text 28"/>
          <p:cNvSpPr/>
          <p:nvPr/>
        </p:nvSpPr>
        <p:spPr>
          <a:xfrm>
            <a:off x="7318325" y="4770686"/>
            <a:ext cx="1235125"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0A0A0A"/>
                </a:solidFill>
                <a:latin typeface="Arial" pitchFamily="34" charset="0"/>
                <a:ea typeface="Arial" pitchFamily="34" charset="-122"/>
                <a:cs typeface="Arial" pitchFamily="34" charset="-120"/>
              </a:rPr>
              <a:t>Quantify</a:t>
            </a:r>
            <a:endParaRPr lang="en-US" sz="2250" dirty="0"/>
          </a:p>
        </p:txBody>
      </p:sp>
      <p:sp>
        <p:nvSpPr>
          <p:cNvPr id="34" name="Text 29"/>
          <p:cNvSpPr/>
          <p:nvPr/>
        </p:nvSpPr>
        <p:spPr>
          <a:xfrm>
            <a:off x="6784925" y="5277892"/>
            <a:ext cx="2120875" cy="1318022"/>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Emissions agent estimates the leak rate from measured data.</a:t>
            </a:r>
            <a:endParaRPr lang="en-US" sz="1800" dirty="0"/>
          </a:p>
        </p:txBody>
      </p:sp>
      <p:sp>
        <p:nvSpPr>
          <p:cNvPr id="35" name="Shape 30"/>
          <p:cNvSpPr/>
          <p:nvPr/>
        </p:nvSpPr>
        <p:spPr>
          <a:xfrm>
            <a:off x="6784925" y="6691164"/>
            <a:ext cx="2044675" cy="9525"/>
          </a:xfrm>
          <a:prstGeom prst="rect">
            <a:avLst/>
          </a:prstGeom>
          <a:solidFill>
            <a:srgbClr val="E5E5E5"/>
          </a:solidFill>
          <a:ln/>
        </p:spPr>
        <p:txBody>
          <a:bodyPr/>
          <a:lstStyle/>
          <a:p>
            <a:endParaRPr lang="en-DE"/>
          </a:p>
        </p:txBody>
      </p:sp>
      <p:sp>
        <p:nvSpPr>
          <p:cNvPr id="36" name="Text 31"/>
          <p:cNvSpPr/>
          <p:nvPr/>
        </p:nvSpPr>
        <p:spPr>
          <a:xfrm>
            <a:off x="6784925" y="6834039"/>
            <a:ext cx="2120875"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b="1" dirty="0">
                <a:solidFill>
                  <a:srgbClr val="007A99"/>
                </a:solidFill>
                <a:latin typeface="Arial" pitchFamily="34" charset="0"/>
                <a:ea typeface="Arial" pitchFamily="34" charset="-122"/>
                <a:cs typeface="Arial" pitchFamily="34" charset="-120"/>
              </a:rPr>
              <a:t>Atelic agent on NVIDIA NIM</a:t>
            </a:r>
            <a:endParaRPr lang="en-US" sz="1800" dirty="0"/>
          </a:p>
        </p:txBody>
      </p:sp>
      <p:sp>
        <p:nvSpPr>
          <p:cNvPr id="37" name="Shape 32"/>
          <p:cNvSpPr/>
          <p:nvPr/>
        </p:nvSpPr>
        <p:spPr>
          <a:xfrm>
            <a:off x="9239176" y="4030117"/>
            <a:ext cx="2482900" cy="3636318"/>
          </a:xfrm>
          <a:prstGeom prst="roundRect">
            <a:avLst>
              <a:gd name="adj" fmla="val 3069"/>
            </a:avLst>
          </a:prstGeom>
          <a:solidFill>
            <a:srgbClr val="FFFFFF"/>
          </a:solidFill>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pic>
        <p:nvPicPr>
          <p:cNvPr id="38" name="Image 3" descr="preencoded.png"/>
          <p:cNvPicPr>
            <a:picLocks noChangeAspect="1"/>
          </p:cNvPicPr>
          <p:nvPr/>
        </p:nvPicPr>
        <p:blipFill>
          <a:blip r:embed="rId6"/>
          <a:stretch>
            <a:fillRect/>
          </a:stretch>
        </p:blipFill>
        <p:spPr>
          <a:xfrm>
            <a:off x="9458251" y="4268242"/>
            <a:ext cx="323850" cy="323850"/>
          </a:xfrm>
          <a:prstGeom prst="rect">
            <a:avLst/>
          </a:prstGeom>
        </p:spPr>
      </p:pic>
      <p:sp>
        <p:nvSpPr>
          <p:cNvPr id="39" name="Text 33"/>
          <p:cNvSpPr/>
          <p:nvPr/>
        </p:nvSpPr>
        <p:spPr>
          <a:xfrm>
            <a:off x="10542687" y="4301579"/>
            <a:ext cx="1036513"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T+5 min</a:t>
            </a:r>
            <a:endParaRPr lang="en-US" sz="1800" dirty="0"/>
          </a:p>
        </p:txBody>
      </p:sp>
      <p:sp>
        <p:nvSpPr>
          <p:cNvPr id="40" name="Shape 34"/>
          <p:cNvSpPr/>
          <p:nvPr/>
        </p:nvSpPr>
        <p:spPr>
          <a:xfrm>
            <a:off x="9458251" y="4725442"/>
            <a:ext cx="419100" cy="419100"/>
          </a:xfrm>
          <a:prstGeom prst="ellipse">
            <a:avLst/>
          </a:prstGeom>
          <a:solidFill>
            <a:srgbClr val="E63232"/>
          </a:solidFill>
          <a:ln/>
        </p:spPr>
        <p:txBody>
          <a:bodyPr/>
          <a:lstStyle/>
          <a:p>
            <a:endParaRPr lang="en-DE"/>
          </a:p>
        </p:txBody>
      </p:sp>
      <p:sp>
        <p:nvSpPr>
          <p:cNvPr id="41" name="Text 35"/>
          <p:cNvSpPr/>
          <p:nvPr/>
        </p:nvSpPr>
        <p:spPr>
          <a:xfrm>
            <a:off x="9420151" y="4725442"/>
            <a:ext cx="495300" cy="4572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42" name="Text 36"/>
          <p:cNvSpPr/>
          <p:nvPr/>
        </p:nvSpPr>
        <p:spPr>
          <a:xfrm>
            <a:off x="9991651" y="4770686"/>
            <a:ext cx="679698"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0A0A0A"/>
                </a:solidFill>
                <a:latin typeface="Arial" pitchFamily="34" charset="0"/>
                <a:ea typeface="Arial" pitchFamily="34" charset="-122"/>
                <a:cs typeface="Arial" pitchFamily="34" charset="-120"/>
              </a:rPr>
              <a:t>Plan</a:t>
            </a:r>
            <a:endParaRPr lang="en-US" sz="2250" dirty="0"/>
          </a:p>
        </p:txBody>
      </p:sp>
      <p:sp>
        <p:nvSpPr>
          <p:cNvPr id="43" name="Text 37"/>
          <p:cNvSpPr/>
          <p:nvPr/>
        </p:nvSpPr>
        <p:spPr>
          <a:xfrm>
            <a:off x="9458251" y="5277892"/>
            <a:ext cx="2120950" cy="1318022"/>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Maintenance agent drafts the isolation plan, work order and permit.</a:t>
            </a:r>
            <a:endParaRPr lang="en-US" sz="1800" dirty="0"/>
          </a:p>
        </p:txBody>
      </p:sp>
      <p:sp>
        <p:nvSpPr>
          <p:cNvPr id="44" name="Shape 38"/>
          <p:cNvSpPr/>
          <p:nvPr/>
        </p:nvSpPr>
        <p:spPr>
          <a:xfrm>
            <a:off x="9458251" y="6691164"/>
            <a:ext cx="2044750" cy="9525"/>
          </a:xfrm>
          <a:prstGeom prst="rect">
            <a:avLst/>
          </a:prstGeom>
          <a:solidFill>
            <a:srgbClr val="E5E5E5"/>
          </a:solidFill>
          <a:ln/>
        </p:spPr>
        <p:txBody>
          <a:bodyPr/>
          <a:lstStyle/>
          <a:p>
            <a:endParaRPr lang="en-DE"/>
          </a:p>
        </p:txBody>
      </p:sp>
      <p:sp>
        <p:nvSpPr>
          <p:cNvPr id="45" name="Text 39"/>
          <p:cNvSpPr/>
          <p:nvPr/>
        </p:nvSpPr>
        <p:spPr>
          <a:xfrm>
            <a:off x="9458251" y="6834039"/>
            <a:ext cx="2120950"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b="1" dirty="0">
                <a:solidFill>
                  <a:srgbClr val="007A99"/>
                </a:solidFill>
                <a:latin typeface="Arial" pitchFamily="34" charset="0"/>
                <a:ea typeface="Arial" pitchFamily="34" charset="-122"/>
                <a:cs typeface="Arial" pitchFamily="34" charset="-120"/>
              </a:rPr>
              <a:t>Agentic RAG + Nemotron NIM</a:t>
            </a:r>
            <a:endParaRPr lang="en-US" sz="1800" dirty="0"/>
          </a:p>
        </p:txBody>
      </p:sp>
      <p:sp>
        <p:nvSpPr>
          <p:cNvPr id="46" name="Shape 40"/>
          <p:cNvSpPr/>
          <p:nvPr/>
        </p:nvSpPr>
        <p:spPr>
          <a:xfrm>
            <a:off x="11912575" y="4030117"/>
            <a:ext cx="2482825" cy="3636318"/>
          </a:xfrm>
          <a:prstGeom prst="roundRect">
            <a:avLst>
              <a:gd name="adj" fmla="val 3069"/>
            </a:avLst>
          </a:prstGeom>
          <a:solidFill>
            <a:srgbClr val="FFFFFF"/>
          </a:solidFill>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pic>
        <p:nvPicPr>
          <p:cNvPr id="47" name="Image 4" descr="preencoded.png"/>
          <p:cNvPicPr>
            <a:picLocks noChangeAspect="1"/>
          </p:cNvPicPr>
          <p:nvPr/>
        </p:nvPicPr>
        <p:blipFill>
          <a:blip r:embed="rId7"/>
          <a:stretch>
            <a:fillRect/>
          </a:stretch>
        </p:blipFill>
        <p:spPr>
          <a:xfrm>
            <a:off x="12131650" y="4268242"/>
            <a:ext cx="323850" cy="323850"/>
          </a:xfrm>
          <a:prstGeom prst="rect">
            <a:avLst/>
          </a:prstGeom>
        </p:spPr>
      </p:pic>
      <p:sp>
        <p:nvSpPr>
          <p:cNvPr id="48" name="Text 41"/>
          <p:cNvSpPr/>
          <p:nvPr/>
        </p:nvSpPr>
        <p:spPr>
          <a:xfrm>
            <a:off x="13216012" y="4301579"/>
            <a:ext cx="1036513"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T+8 min</a:t>
            </a:r>
            <a:endParaRPr lang="en-US" sz="1800" dirty="0"/>
          </a:p>
        </p:txBody>
      </p:sp>
      <p:sp>
        <p:nvSpPr>
          <p:cNvPr id="49" name="Shape 42"/>
          <p:cNvSpPr/>
          <p:nvPr/>
        </p:nvSpPr>
        <p:spPr>
          <a:xfrm>
            <a:off x="12131650" y="4725442"/>
            <a:ext cx="419100" cy="419100"/>
          </a:xfrm>
          <a:prstGeom prst="ellipse">
            <a:avLst/>
          </a:prstGeom>
          <a:solidFill>
            <a:srgbClr val="E63232"/>
          </a:solidFill>
          <a:ln/>
        </p:spPr>
        <p:txBody>
          <a:bodyPr/>
          <a:lstStyle/>
          <a:p>
            <a:endParaRPr lang="en-DE"/>
          </a:p>
        </p:txBody>
      </p:sp>
      <p:sp>
        <p:nvSpPr>
          <p:cNvPr id="50" name="Text 43"/>
          <p:cNvSpPr/>
          <p:nvPr/>
        </p:nvSpPr>
        <p:spPr>
          <a:xfrm>
            <a:off x="12093550" y="4725442"/>
            <a:ext cx="495300" cy="4572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51" name="Text 44"/>
          <p:cNvSpPr/>
          <p:nvPr/>
        </p:nvSpPr>
        <p:spPr>
          <a:xfrm>
            <a:off x="12665050" y="4770686"/>
            <a:ext cx="1235273"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0A0A0A"/>
                </a:solidFill>
                <a:latin typeface="Arial" pitchFamily="34" charset="0"/>
                <a:ea typeface="Arial" pitchFamily="34" charset="-122"/>
                <a:cs typeface="Arial" pitchFamily="34" charset="-120"/>
              </a:rPr>
              <a:t>Approve</a:t>
            </a:r>
            <a:endParaRPr lang="en-US" sz="2250" dirty="0"/>
          </a:p>
        </p:txBody>
      </p:sp>
      <p:sp>
        <p:nvSpPr>
          <p:cNvPr id="52" name="Text 45"/>
          <p:cNvSpPr/>
          <p:nvPr/>
        </p:nvSpPr>
        <p:spPr>
          <a:xfrm>
            <a:off x="12131650" y="5277892"/>
            <a:ext cx="2120875" cy="1318022"/>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The control-room engineer reviews the evidence and approves.</a:t>
            </a:r>
            <a:endParaRPr lang="en-US" sz="1800" dirty="0"/>
          </a:p>
        </p:txBody>
      </p:sp>
      <p:sp>
        <p:nvSpPr>
          <p:cNvPr id="53" name="Shape 46"/>
          <p:cNvSpPr/>
          <p:nvPr/>
        </p:nvSpPr>
        <p:spPr>
          <a:xfrm>
            <a:off x="12131650" y="6691164"/>
            <a:ext cx="2044675" cy="9525"/>
          </a:xfrm>
          <a:prstGeom prst="rect">
            <a:avLst/>
          </a:prstGeom>
          <a:solidFill>
            <a:srgbClr val="E5E5E5"/>
          </a:solidFill>
          <a:ln/>
        </p:spPr>
        <p:txBody>
          <a:bodyPr/>
          <a:lstStyle/>
          <a:p>
            <a:endParaRPr lang="en-DE"/>
          </a:p>
        </p:txBody>
      </p:sp>
      <p:sp>
        <p:nvSpPr>
          <p:cNvPr id="54" name="Text 47"/>
          <p:cNvSpPr/>
          <p:nvPr/>
        </p:nvSpPr>
        <p:spPr>
          <a:xfrm>
            <a:off x="12131650" y="6834039"/>
            <a:ext cx="2120875"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b="1" dirty="0">
                <a:solidFill>
                  <a:srgbClr val="007A99"/>
                </a:solidFill>
                <a:latin typeface="Arial" pitchFamily="34" charset="0"/>
                <a:ea typeface="Arial" pitchFamily="34" charset="-122"/>
                <a:cs typeface="Arial" pitchFamily="34" charset="-120"/>
              </a:rPr>
              <a:t>NeMo Guardrails + human</a:t>
            </a:r>
            <a:endParaRPr lang="en-US" sz="1800" dirty="0"/>
          </a:p>
        </p:txBody>
      </p:sp>
      <p:sp>
        <p:nvSpPr>
          <p:cNvPr id="55" name="Shape 48"/>
          <p:cNvSpPr/>
          <p:nvPr/>
        </p:nvSpPr>
        <p:spPr>
          <a:xfrm>
            <a:off x="14585900" y="4030117"/>
            <a:ext cx="2482825" cy="3636318"/>
          </a:xfrm>
          <a:prstGeom prst="roundRect">
            <a:avLst>
              <a:gd name="adj" fmla="val 3069"/>
            </a:avLst>
          </a:prstGeom>
          <a:solidFill>
            <a:srgbClr val="FFFFFF"/>
          </a:solidFill>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pic>
        <p:nvPicPr>
          <p:cNvPr id="56" name="Image 5" descr="preencoded.png"/>
          <p:cNvPicPr>
            <a:picLocks noChangeAspect="1"/>
          </p:cNvPicPr>
          <p:nvPr/>
        </p:nvPicPr>
        <p:blipFill>
          <a:blip r:embed="rId8"/>
          <a:stretch>
            <a:fillRect/>
          </a:stretch>
        </p:blipFill>
        <p:spPr>
          <a:xfrm>
            <a:off x="14804975" y="4268242"/>
            <a:ext cx="323850" cy="323850"/>
          </a:xfrm>
          <a:prstGeom prst="rect">
            <a:avLst/>
          </a:prstGeom>
        </p:spPr>
      </p:pic>
      <p:sp>
        <p:nvSpPr>
          <p:cNvPr id="57" name="Text 49"/>
          <p:cNvSpPr/>
          <p:nvPr/>
        </p:nvSpPr>
        <p:spPr>
          <a:xfrm>
            <a:off x="15752192" y="4301579"/>
            <a:ext cx="1173659"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T+10 min</a:t>
            </a:r>
            <a:endParaRPr lang="en-US" sz="1800" dirty="0"/>
          </a:p>
        </p:txBody>
      </p:sp>
      <p:sp>
        <p:nvSpPr>
          <p:cNvPr id="58" name="Shape 50"/>
          <p:cNvSpPr/>
          <p:nvPr/>
        </p:nvSpPr>
        <p:spPr>
          <a:xfrm>
            <a:off x="14804975" y="4725442"/>
            <a:ext cx="419100" cy="419100"/>
          </a:xfrm>
          <a:prstGeom prst="ellipse">
            <a:avLst/>
          </a:prstGeom>
          <a:solidFill>
            <a:srgbClr val="E63232"/>
          </a:solidFill>
          <a:ln/>
        </p:spPr>
        <p:txBody>
          <a:bodyPr/>
          <a:lstStyle/>
          <a:p>
            <a:endParaRPr lang="en-DE"/>
          </a:p>
        </p:txBody>
      </p:sp>
      <p:sp>
        <p:nvSpPr>
          <p:cNvPr id="59" name="Text 51"/>
          <p:cNvSpPr/>
          <p:nvPr/>
        </p:nvSpPr>
        <p:spPr>
          <a:xfrm>
            <a:off x="14766875" y="4725442"/>
            <a:ext cx="495300" cy="4572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60" name="Text 52"/>
          <p:cNvSpPr/>
          <p:nvPr/>
        </p:nvSpPr>
        <p:spPr>
          <a:xfrm>
            <a:off x="15338375" y="4770686"/>
            <a:ext cx="997000"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0A0A0A"/>
                </a:solidFill>
                <a:latin typeface="Arial" pitchFamily="34" charset="0"/>
                <a:ea typeface="Arial" pitchFamily="34" charset="-122"/>
                <a:cs typeface="Arial" pitchFamily="34" charset="-120"/>
              </a:rPr>
              <a:t>Report</a:t>
            </a:r>
            <a:endParaRPr lang="en-US" sz="2250" dirty="0"/>
          </a:p>
        </p:txBody>
      </p:sp>
      <p:sp>
        <p:nvSpPr>
          <p:cNvPr id="61" name="Text 53"/>
          <p:cNvSpPr/>
          <p:nvPr/>
        </p:nvSpPr>
        <p:spPr>
          <a:xfrm>
            <a:off x="14804975" y="5277892"/>
            <a:ext cx="2120875" cy="1318022"/>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Compliance agent files an OGMP 2.0-aligned record with audit trail.</a:t>
            </a:r>
            <a:endParaRPr lang="en-US" sz="1800" dirty="0"/>
          </a:p>
        </p:txBody>
      </p:sp>
      <p:sp>
        <p:nvSpPr>
          <p:cNvPr id="62" name="Shape 54"/>
          <p:cNvSpPr/>
          <p:nvPr/>
        </p:nvSpPr>
        <p:spPr>
          <a:xfrm>
            <a:off x="14804975" y="6691164"/>
            <a:ext cx="2044675" cy="9525"/>
          </a:xfrm>
          <a:prstGeom prst="rect">
            <a:avLst/>
          </a:prstGeom>
          <a:solidFill>
            <a:srgbClr val="E5E5E5"/>
          </a:solidFill>
          <a:ln/>
        </p:spPr>
        <p:txBody>
          <a:bodyPr/>
          <a:lstStyle/>
          <a:p>
            <a:endParaRPr lang="en-DE"/>
          </a:p>
        </p:txBody>
      </p:sp>
      <p:sp>
        <p:nvSpPr>
          <p:cNvPr id="63" name="Text 55"/>
          <p:cNvSpPr/>
          <p:nvPr/>
        </p:nvSpPr>
        <p:spPr>
          <a:xfrm>
            <a:off x="14804975" y="6834039"/>
            <a:ext cx="2120875"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b="1" dirty="0">
                <a:solidFill>
                  <a:srgbClr val="007A99"/>
                </a:solidFill>
                <a:latin typeface="Arial" pitchFamily="34" charset="0"/>
                <a:ea typeface="Arial" pitchFamily="34" charset="-122"/>
                <a:cs typeface="Arial" pitchFamily="34" charset="-120"/>
              </a:rPr>
              <a:t>Atelic agent + audit log</a:t>
            </a:r>
            <a:endParaRPr lang="en-US" sz="1800" dirty="0"/>
          </a:p>
        </p:txBody>
      </p:sp>
      <p:sp>
        <p:nvSpPr>
          <p:cNvPr id="64" name="Shape 56"/>
          <p:cNvSpPr/>
          <p:nvPr/>
        </p:nvSpPr>
        <p:spPr>
          <a:xfrm>
            <a:off x="1219200" y="7933134"/>
            <a:ext cx="15849600" cy="690563"/>
          </a:xfrm>
          <a:prstGeom prst="roundRect">
            <a:avLst>
              <a:gd name="adj" fmla="val 8276"/>
            </a:avLst>
          </a:prstGeom>
          <a:solidFill>
            <a:srgbClr val="FDF0F0"/>
          </a:solidFill>
          <a:ln/>
        </p:spPr>
        <p:txBody>
          <a:bodyPr/>
          <a:lstStyle/>
          <a:p>
            <a:endParaRPr lang="en-DE"/>
          </a:p>
        </p:txBody>
      </p:sp>
      <p:sp>
        <p:nvSpPr>
          <p:cNvPr id="65" name="Text 57"/>
          <p:cNvSpPr/>
          <p:nvPr/>
        </p:nvSpPr>
        <p:spPr>
          <a:xfrm>
            <a:off x="1485900" y="8123634"/>
            <a:ext cx="15791688" cy="347663"/>
          </a:xfrm>
          <a:prstGeom prst="rect">
            <a:avLst/>
          </a:prstGeom>
          <a:noFill/>
          <a:ln/>
        </p:spPr>
        <p:txBody>
          <a:bodyPr wrap="square" lIns="25400" tIns="25400" rIns="25400" bIns="25400" rtlCol="0" anchor="t">
            <a:normAutofit/>
          </a:bodyPr>
          <a:lstStyle/>
          <a:p>
            <a:pPr marL="0" indent="0" algn="l">
              <a:buNone/>
            </a:pPr>
            <a:r>
              <a:rPr lang="en-US" sz="2100" b="1" dirty="0">
                <a:solidFill>
                  <a:srgbClr val="E63232"/>
                </a:solidFill>
                <a:latin typeface="Arial" pitchFamily="34" charset="0"/>
                <a:ea typeface="Arial" pitchFamily="34" charset="-122"/>
                <a:cs typeface="Arial" pitchFamily="34" charset="-120"/>
              </a:rPr>
              <a:t>Step 1 uses the cameras you already own. Steps 2–6 are where Atelic closes the loop.</a:t>
            </a:r>
            <a:endParaRPr lang="en-US" sz="2100" dirty="0"/>
          </a:p>
        </p:txBody>
      </p:sp>
      <p:sp>
        <p:nvSpPr>
          <p:cNvPr id="66" name="Shape 58"/>
          <p:cNvSpPr/>
          <p:nvPr/>
        </p:nvSpPr>
        <p:spPr>
          <a:xfrm>
            <a:off x="1219200" y="9229725"/>
            <a:ext cx="15849600" cy="9525"/>
          </a:xfrm>
          <a:prstGeom prst="rect">
            <a:avLst/>
          </a:prstGeom>
          <a:solidFill>
            <a:srgbClr val="E5E5E5"/>
          </a:solidFill>
          <a:ln/>
        </p:spPr>
        <p:txBody>
          <a:bodyPr/>
          <a:lstStyle/>
          <a:p>
            <a:endParaRPr lang="en-DE"/>
          </a:p>
        </p:txBody>
      </p:sp>
      <p:pic>
        <p:nvPicPr>
          <p:cNvPr id="67" name="Image 6" descr="preencoded.png"/>
          <p:cNvPicPr>
            <a:picLocks noChangeAspect="1"/>
          </p:cNvPicPr>
          <p:nvPr/>
        </p:nvPicPr>
        <p:blipFill>
          <a:blip r:embed="rId9"/>
          <a:stretch>
            <a:fillRect/>
          </a:stretch>
        </p:blipFill>
        <p:spPr>
          <a:xfrm>
            <a:off x="1219200" y="9410700"/>
            <a:ext cx="1217563" cy="381000"/>
          </a:xfrm>
          <a:prstGeom prst="rect">
            <a:avLst/>
          </a:prstGeom>
        </p:spPr>
      </p:pic>
      <p:sp>
        <p:nvSpPr>
          <p:cNvPr id="68" name="Text 59"/>
          <p:cNvSpPr/>
          <p:nvPr/>
        </p:nvSpPr>
        <p:spPr>
          <a:xfrm>
            <a:off x="2608213" y="9436894"/>
            <a:ext cx="243111" cy="366713"/>
          </a:xfrm>
          <a:prstGeom prst="rect">
            <a:avLst/>
          </a:prstGeom>
          <a:noFill/>
          <a:ln/>
        </p:spPr>
        <p:txBody>
          <a:bodyPr wrap="square" lIns="25400" tIns="25400" rIns="25400" bIns="25400" rtlCol="0" anchor="t">
            <a:normAutofit/>
          </a:bodyPr>
          <a:lstStyle/>
          <a:p>
            <a:pPr marL="0" indent="0" algn="l">
              <a:buNone/>
            </a:pPr>
            <a:r>
              <a:rPr lang="en-US" sz="2250" dirty="0">
                <a:solidFill>
                  <a:srgbClr val="A0A0A0"/>
                </a:solidFill>
                <a:latin typeface="Arial" pitchFamily="34" charset="0"/>
                <a:ea typeface="Arial" pitchFamily="34" charset="-122"/>
                <a:cs typeface="Arial" pitchFamily="34" charset="-120"/>
              </a:rPr>
              <a:t>×</a:t>
            </a:r>
            <a:endParaRPr lang="en-US" sz="2250" dirty="0"/>
          </a:p>
        </p:txBody>
      </p:sp>
      <p:pic>
        <p:nvPicPr>
          <p:cNvPr id="69" name="Image 7" descr="preencoded.png"/>
          <p:cNvPicPr>
            <a:picLocks noChangeAspect="1"/>
          </p:cNvPicPr>
          <p:nvPr/>
        </p:nvPicPr>
        <p:blipFill>
          <a:blip r:embed="rId10"/>
          <a:stretch>
            <a:fillRect/>
          </a:stretch>
        </p:blipFill>
        <p:spPr>
          <a:xfrm>
            <a:off x="2946574" y="9486900"/>
            <a:ext cx="1749772" cy="228600"/>
          </a:xfrm>
          <a:prstGeom prst="rect">
            <a:avLst/>
          </a:prstGeom>
        </p:spPr>
      </p:pic>
      <p:sp>
        <p:nvSpPr>
          <p:cNvPr id="70" name="Text 60"/>
          <p:cNvSpPr/>
          <p:nvPr/>
        </p:nvSpPr>
        <p:spPr>
          <a:xfrm>
            <a:off x="5058296" y="9470231"/>
            <a:ext cx="286567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6B6B6B"/>
                </a:solidFill>
                <a:latin typeface="Arial" pitchFamily="34" charset="0"/>
                <a:ea typeface="Arial" pitchFamily="34" charset="-122"/>
                <a:cs typeface="Arial" pitchFamily="34" charset="-120"/>
              </a:rPr>
              <a:t>ADIPEC 2026, Abu Dhabi</a:t>
            </a:r>
            <a:endParaRPr lang="en-US" sz="1800" dirty="0"/>
          </a:p>
        </p:txBody>
      </p:sp>
      <p:sp>
        <p:nvSpPr>
          <p:cNvPr id="72" name="Text 62"/>
          <p:cNvSpPr/>
          <p:nvPr/>
        </p:nvSpPr>
        <p:spPr>
          <a:xfrm>
            <a:off x="16794435" y="9472613"/>
            <a:ext cx="35056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Courier New" pitchFamily="34" charset="0"/>
                <a:ea typeface="Courier New" pitchFamily="34" charset="-122"/>
                <a:cs typeface="Courier New"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E63232"/>
          </a:solidFill>
          <a:ln/>
        </p:spPr>
        <p:txBody>
          <a:bodyPr/>
          <a:lstStyle/>
          <a:p>
            <a:endParaRPr lang="en-DE"/>
          </a:p>
        </p:txBody>
      </p:sp>
      <p:sp>
        <p:nvSpPr>
          <p:cNvPr id="3" name="Text 1"/>
          <p:cNvSpPr/>
          <p:nvPr/>
        </p:nvSpPr>
        <p:spPr>
          <a:xfrm>
            <a:off x="1219200" y="723900"/>
            <a:ext cx="1743456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E63232"/>
                </a:solidFill>
                <a:latin typeface="Arial" pitchFamily="34" charset="0"/>
                <a:ea typeface="Arial" pitchFamily="34" charset="-122"/>
                <a:cs typeface="Arial" pitchFamily="34" charset="-120"/>
              </a:rPr>
              <a:t>INSIDE THE BOX</a:t>
            </a:r>
            <a:endParaRPr lang="en-US" sz="1800" dirty="0"/>
          </a:p>
        </p:txBody>
      </p:sp>
      <p:sp>
        <p:nvSpPr>
          <p:cNvPr id="4" name="Text 2"/>
          <p:cNvSpPr/>
          <p:nvPr/>
        </p:nvSpPr>
        <p:spPr>
          <a:xfrm>
            <a:off x="1219200" y="1176338"/>
            <a:ext cx="16325088" cy="1305967"/>
          </a:xfrm>
          <a:prstGeom prst="rect">
            <a:avLst/>
          </a:prstGeom>
          <a:noFill/>
          <a:ln/>
        </p:spPr>
        <p:txBody>
          <a:bodyPr wrap="square" lIns="25400" tIns="25400" rIns="25400" bIns="25400" rtlCol="0" anchor="t">
            <a:normAutofit/>
          </a:bodyPr>
          <a:lstStyle/>
          <a:p>
            <a:pPr marL="0" indent="0" algn="l">
              <a:lnSpc>
                <a:spcPct val="90558"/>
              </a:lnSpc>
              <a:buNone/>
            </a:pPr>
            <a:r>
              <a:rPr lang="en-US" sz="4800" b="1" kern="0" spc="-48" dirty="0">
                <a:solidFill>
                  <a:srgbClr val="0A0A0A"/>
                </a:solidFill>
                <a:latin typeface="Arial" pitchFamily="34" charset="0"/>
                <a:ea typeface="Arial" pitchFamily="34" charset="-122"/>
                <a:cs typeface="Arial" pitchFamily="34" charset="-120"/>
              </a:rPr>
              <a:t>THE DELL AI FACTORY STACK, </a:t>
            </a:r>
            <a:r>
              <a:rPr lang="en-US" sz="4800" b="1" kern="0" spc="-48" dirty="0">
                <a:solidFill>
                  <a:srgbClr val="E63232"/>
                </a:solidFill>
                <a:latin typeface="Arial" pitchFamily="34" charset="0"/>
                <a:ea typeface="Arial" pitchFamily="34" charset="-122"/>
                <a:cs typeface="Arial" pitchFamily="34" charset="-120"/>
              </a:rPr>
              <a:t>ON ONE RUGGED SERVER</a:t>
            </a:r>
            <a:endParaRPr lang="en-US" sz="4800" dirty="0"/>
          </a:p>
        </p:txBody>
      </p:sp>
      <p:sp>
        <p:nvSpPr>
          <p:cNvPr id="5" name="Text 3"/>
          <p:cNvSpPr/>
          <p:nvPr/>
        </p:nvSpPr>
        <p:spPr>
          <a:xfrm>
            <a:off x="1219200" y="2653754"/>
            <a:ext cx="1743456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2A2A2A"/>
                </a:solidFill>
                <a:latin typeface="Arial" pitchFamily="34" charset="0"/>
                <a:ea typeface="Arial" pitchFamily="34" charset="-122"/>
                <a:cs typeface="Arial" pitchFamily="34" charset="-120"/>
              </a:rPr>
              <a:t>Atelic adds plant knowledge, OT connectors and agents on top.</a:t>
            </a:r>
            <a:endParaRPr lang="en-US" sz="2250" dirty="0"/>
          </a:p>
        </p:txBody>
      </p:sp>
      <p:sp>
        <p:nvSpPr>
          <p:cNvPr id="6" name="Text 4"/>
          <p:cNvSpPr/>
          <p:nvPr/>
        </p:nvSpPr>
        <p:spPr>
          <a:xfrm>
            <a:off x="1219200" y="3320504"/>
            <a:ext cx="4191000"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6B6B6B"/>
                </a:solidFill>
                <a:latin typeface="Arial" pitchFamily="34" charset="0"/>
                <a:ea typeface="Arial" pitchFamily="34" charset="-122"/>
                <a:cs typeface="Arial" pitchFamily="34" charset="-120"/>
              </a:rPr>
              <a:t>SITE DATA</a:t>
            </a:r>
            <a:endParaRPr lang="en-US" sz="1800" dirty="0"/>
          </a:p>
        </p:txBody>
      </p:sp>
      <p:sp>
        <p:nvSpPr>
          <p:cNvPr id="7" name="Shape 5"/>
          <p:cNvSpPr/>
          <p:nvPr/>
        </p:nvSpPr>
        <p:spPr>
          <a:xfrm>
            <a:off x="1219200" y="3696742"/>
            <a:ext cx="3810000" cy="620985"/>
          </a:xfrm>
          <a:prstGeom prst="roundRect">
            <a:avLst>
              <a:gd name="adj" fmla="val 9203"/>
            </a:avLst>
          </a:prstGeom>
          <a:ln w="9525">
            <a:solidFill>
              <a:srgbClr val="E5E5E5"/>
            </a:solidFill>
            <a:prstDash val="solid"/>
          </a:ln>
        </p:spPr>
        <p:txBody>
          <a:bodyPr/>
          <a:lstStyle/>
          <a:p>
            <a:endParaRPr lang="en-DE"/>
          </a:p>
        </p:txBody>
      </p:sp>
      <p:sp>
        <p:nvSpPr>
          <p:cNvPr id="8" name="Text 6"/>
          <p:cNvSpPr/>
          <p:nvPr/>
        </p:nvSpPr>
        <p:spPr>
          <a:xfrm>
            <a:off x="1419225" y="3858667"/>
            <a:ext cx="3524250" cy="335235"/>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DCS / SCADA tags (OPC UA)</a:t>
            </a:r>
            <a:endParaRPr lang="en-US" sz="1800" dirty="0"/>
          </a:p>
        </p:txBody>
      </p:sp>
      <p:sp>
        <p:nvSpPr>
          <p:cNvPr id="9" name="Shape 7"/>
          <p:cNvSpPr/>
          <p:nvPr/>
        </p:nvSpPr>
        <p:spPr>
          <a:xfrm>
            <a:off x="1219200" y="4432027"/>
            <a:ext cx="3810000" cy="918121"/>
          </a:xfrm>
          <a:prstGeom prst="roundRect">
            <a:avLst>
              <a:gd name="adj" fmla="val 6225"/>
            </a:avLst>
          </a:prstGeom>
          <a:ln w="9525">
            <a:solidFill>
              <a:srgbClr val="E5E5E5"/>
            </a:solidFill>
            <a:prstDash val="solid"/>
          </a:ln>
        </p:spPr>
        <p:txBody>
          <a:bodyPr/>
          <a:lstStyle/>
          <a:p>
            <a:endParaRPr lang="en-DE"/>
          </a:p>
        </p:txBody>
      </p:sp>
      <p:sp>
        <p:nvSpPr>
          <p:cNvPr id="10" name="Text 8"/>
          <p:cNvSpPr/>
          <p:nvPr/>
        </p:nvSpPr>
        <p:spPr>
          <a:xfrm>
            <a:off x="1419225" y="4593952"/>
            <a:ext cx="3524250"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Existing gas cameras and detectors</a:t>
            </a:r>
            <a:endParaRPr lang="en-US" sz="1800" dirty="0"/>
          </a:p>
        </p:txBody>
      </p:sp>
      <p:sp>
        <p:nvSpPr>
          <p:cNvPr id="11" name="Shape 9"/>
          <p:cNvSpPr/>
          <p:nvPr/>
        </p:nvSpPr>
        <p:spPr>
          <a:xfrm>
            <a:off x="1219200" y="5464448"/>
            <a:ext cx="3810000" cy="620985"/>
          </a:xfrm>
          <a:prstGeom prst="roundRect">
            <a:avLst>
              <a:gd name="adj" fmla="val 9203"/>
            </a:avLst>
          </a:prstGeom>
          <a:ln w="9525">
            <a:solidFill>
              <a:srgbClr val="E5E5E5"/>
            </a:solidFill>
            <a:prstDash val="solid"/>
          </a:ln>
        </p:spPr>
        <p:txBody>
          <a:bodyPr/>
          <a:lstStyle/>
          <a:p>
            <a:endParaRPr lang="en-DE"/>
          </a:p>
        </p:txBody>
      </p:sp>
      <p:sp>
        <p:nvSpPr>
          <p:cNvPr id="12" name="Text 10"/>
          <p:cNvSpPr/>
          <p:nvPr/>
        </p:nvSpPr>
        <p:spPr>
          <a:xfrm>
            <a:off x="1419225" y="5626373"/>
            <a:ext cx="3524250" cy="335235"/>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Flare and flow meters</a:t>
            </a:r>
            <a:endParaRPr lang="en-US" sz="1800" dirty="0"/>
          </a:p>
        </p:txBody>
      </p:sp>
      <p:sp>
        <p:nvSpPr>
          <p:cNvPr id="13" name="Shape 11"/>
          <p:cNvSpPr/>
          <p:nvPr/>
        </p:nvSpPr>
        <p:spPr>
          <a:xfrm>
            <a:off x="1219200" y="6199733"/>
            <a:ext cx="3810000" cy="620985"/>
          </a:xfrm>
          <a:prstGeom prst="roundRect">
            <a:avLst>
              <a:gd name="adj" fmla="val 9203"/>
            </a:avLst>
          </a:prstGeom>
          <a:ln w="9525">
            <a:solidFill>
              <a:srgbClr val="E5E5E5"/>
            </a:solidFill>
            <a:prstDash val="solid"/>
          </a:ln>
        </p:spPr>
        <p:txBody>
          <a:bodyPr/>
          <a:lstStyle/>
          <a:p>
            <a:endParaRPr lang="en-DE"/>
          </a:p>
        </p:txBody>
      </p:sp>
      <p:sp>
        <p:nvSpPr>
          <p:cNvPr id="14" name="Text 12"/>
          <p:cNvSpPr/>
          <p:nvPr/>
        </p:nvSpPr>
        <p:spPr>
          <a:xfrm>
            <a:off x="1419225" y="6361658"/>
            <a:ext cx="3524250" cy="335235"/>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Maintenance history (CMMS)</a:t>
            </a:r>
            <a:endParaRPr lang="en-US" sz="1800" dirty="0"/>
          </a:p>
        </p:txBody>
      </p:sp>
      <p:sp>
        <p:nvSpPr>
          <p:cNvPr id="15" name="Shape 13"/>
          <p:cNvSpPr/>
          <p:nvPr/>
        </p:nvSpPr>
        <p:spPr>
          <a:xfrm>
            <a:off x="1219200" y="6935019"/>
            <a:ext cx="3810000" cy="620985"/>
          </a:xfrm>
          <a:prstGeom prst="roundRect">
            <a:avLst>
              <a:gd name="adj" fmla="val 9203"/>
            </a:avLst>
          </a:prstGeom>
          <a:ln w="9525">
            <a:solidFill>
              <a:srgbClr val="E5E5E5"/>
            </a:solidFill>
            <a:prstDash val="solid"/>
          </a:ln>
        </p:spPr>
        <p:txBody>
          <a:bodyPr/>
          <a:lstStyle/>
          <a:p>
            <a:endParaRPr lang="en-DE"/>
          </a:p>
        </p:txBody>
      </p:sp>
      <p:sp>
        <p:nvSpPr>
          <p:cNvPr id="16" name="Text 14"/>
          <p:cNvSpPr/>
          <p:nvPr/>
        </p:nvSpPr>
        <p:spPr>
          <a:xfrm>
            <a:off x="1419225" y="7096944"/>
            <a:ext cx="3524250" cy="335235"/>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P&amp;IDs, procedures, manuals</a:t>
            </a:r>
            <a:endParaRPr lang="en-US" sz="1800" dirty="0"/>
          </a:p>
        </p:txBody>
      </p:sp>
      <p:sp>
        <p:nvSpPr>
          <p:cNvPr id="18" name="Text 16"/>
          <p:cNvSpPr/>
          <p:nvPr/>
        </p:nvSpPr>
        <p:spPr>
          <a:xfrm>
            <a:off x="5791200" y="3320504"/>
            <a:ext cx="7376160"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0A0A0A"/>
                </a:solidFill>
                <a:latin typeface="Arial" pitchFamily="34" charset="0"/>
                <a:ea typeface="Arial" pitchFamily="34" charset="-122"/>
                <a:cs typeface="Arial" pitchFamily="34" charset="-120"/>
              </a:rPr>
              <a:t>ONE EDGE NODE AT THE SITE</a:t>
            </a:r>
            <a:endParaRPr lang="en-US" sz="1800" dirty="0"/>
          </a:p>
        </p:txBody>
      </p:sp>
      <p:sp>
        <p:nvSpPr>
          <p:cNvPr id="19" name="Shape 17"/>
          <p:cNvSpPr/>
          <p:nvPr/>
        </p:nvSpPr>
        <p:spPr>
          <a:xfrm>
            <a:off x="5791200" y="3677692"/>
            <a:ext cx="6705600" cy="1770608"/>
          </a:xfrm>
          <a:prstGeom prst="roundRect">
            <a:avLst>
              <a:gd name="adj" fmla="val 4304"/>
            </a:avLst>
          </a:prstGeom>
          <a:solidFill>
            <a:srgbClr val="FFFFFF"/>
          </a:solidFill>
          <a:ln w="19050">
            <a:solidFill>
              <a:srgbClr val="E63232"/>
            </a:solidFill>
            <a:prstDash val="solid"/>
          </a:ln>
        </p:spPr>
        <p:txBody>
          <a:bodyPr/>
          <a:lstStyle/>
          <a:p>
            <a:endParaRPr lang="en-DE"/>
          </a:p>
        </p:txBody>
      </p:sp>
      <p:sp>
        <p:nvSpPr>
          <p:cNvPr id="20" name="Text 18"/>
          <p:cNvSpPr/>
          <p:nvPr/>
        </p:nvSpPr>
        <p:spPr>
          <a:xfrm>
            <a:off x="5981700" y="3811042"/>
            <a:ext cx="6957060"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E63232"/>
                </a:solidFill>
                <a:latin typeface="Arial" pitchFamily="34" charset="0"/>
                <a:ea typeface="Arial" pitchFamily="34" charset="-122"/>
                <a:cs typeface="Arial" pitchFamily="34" charset="-120"/>
              </a:rPr>
              <a:t>ATELIC</a:t>
            </a:r>
            <a:endParaRPr lang="en-US" sz="1800" dirty="0"/>
          </a:p>
        </p:txBody>
      </p:sp>
      <p:sp>
        <p:nvSpPr>
          <p:cNvPr id="21" name="Shape 19"/>
          <p:cNvSpPr/>
          <p:nvPr/>
        </p:nvSpPr>
        <p:spPr>
          <a:xfrm>
            <a:off x="5981700" y="4168229"/>
            <a:ext cx="3105150" cy="1146721"/>
          </a:xfrm>
          <a:prstGeom prst="roundRect">
            <a:avLst>
              <a:gd name="adj" fmla="val 4984"/>
            </a:avLst>
          </a:prstGeom>
          <a:solidFill>
            <a:srgbClr val="FDF0F0"/>
          </a:solidFill>
          <a:ln/>
        </p:spPr>
        <p:txBody>
          <a:bodyPr/>
          <a:lstStyle/>
          <a:p>
            <a:endParaRPr lang="en-DE"/>
          </a:p>
        </p:txBody>
      </p:sp>
      <p:sp>
        <p:nvSpPr>
          <p:cNvPr id="22" name="Text 20"/>
          <p:cNvSpPr/>
          <p:nvPr/>
        </p:nvSpPr>
        <p:spPr>
          <a:xfrm>
            <a:off x="6134100" y="4282529"/>
            <a:ext cx="3080385"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0A0A0A"/>
                </a:solidFill>
                <a:latin typeface="Arial" pitchFamily="34" charset="0"/>
                <a:ea typeface="Arial" pitchFamily="34" charset="-122"/>
                <a:cs typeface="Arial" pitchFamily="34" charset="-120"/>
              </a:rPr>
              <a:t>Agent team</a:t>
            </a:r>
            <a:endParaRPr lang="en-US" sz="1950" dirty="0"/>
          </a:p>
        </p:txBody>
      </p:sp>
      <p:sp>
        <p:nvSpPr>
          <p:cNvPr id="23" name="Text 21"/>
          <p:cNvSpPr/>
          <p:nvPr/>
        </p:nvSpPr>
        <p:spPr>
          <a:xfrm>
            <a:off x="6134100" y="4606379"/>
            <a:ext cx="2884361"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575757"/>
                </a:solidFill>
                <a:latin typeface="Arial" pitchFamily="34" charset="0"/>
                <a:ea typeface="Arial" pitchFamily="34" charset="-122"/>
                <a:cs typeface="Arial" pitchFamily="34" charset="-120"/>
              </a:rPr>
              <a:t>Vision, graph, emissions, maintenance, compliance</a:t>
            </a:r>
            <a:endParaRPr lang="en-US" sz="1800" dirty="0"/>
          </a:p>
        </p:txBody>
      </p:sp>
      <p:sp>
        <p:nvSpPr>
          <p:cNvPr id="24" name="Shape 22"/>
          <p:cNvSpPr/>
          <p:nvPr/>
        </p:nvSpPr>
        <p:spPr>
          <a:xfrm>
            <a:off x="9201150" y="4168229"/>
            <a:ext cx="3105150" cy="1146721"/>
          </a:xfrm>
          <a:prstGeom prst="roundRect">
            <a:avLst>
              <a:gd name="adj" fmla="val 4984"/>
            </a:avLst>
          </a:prstGeom>
          <a:solidFill>
            <a:srgbClr val="FDF0F0"/>
          </a:solidFill>
          <a:ln/>
        </p:spPr>
        <p:txBody>
          <a:bodyPr/>
          <a:lstStyle/>
          <a:p>
            <a:endParaRPr lang="en-DE"/>
          </a:p>
        </p:txBody>
      </p:sp>
      <p:sp>
        <p:nvSpPr>
          <p:cNvPr id="25" name="Text 23"/>
          <p:cNvSpPr/>
          <p:nvPr/>
        </p:nvSpPr>
        <p:spPr>
          <a:xfrm>
            <a:off x="9353550" y="4282529"/>
            <a:ext cx="3080385"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0A0A0A"/>
                </a:solidFill>
                <a:latin typeface="Arial" pitchFamily="34" charset="0"/>
                <a:ea typeface="Arial" pitchFamily="34" charset="-122"/>
                <a:cs typeface="Arial" pitchFamily="34" charset="-120"/>
              </a:rPr>
              <a:t>Plant knowledge graph</a:t>
            </a:r>
            <a:endParaRPr lang="en-US" sz="1950" dirty="0"/>
          </a:p>
        </p:txBody>
      </p:sp>
      <p:sp>
        <p:nvSpPr>
          <p:cNvPr id="26" name="Text 24"/>
          <p:cNvSpPr/>
          <p:nvPr/>
        </p:nvSpPr>
        <p:spPr>
          <a:xfrm>
            <a:off x="9353550" y="4606379"/>
            <a:ext cx="2884361"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575757"/>
                </a:solidFill>
                <a:latin typeface="Arial" pitchFamily="34" charset="0"/>
                <a:ea typeface="Arial" pitchFamily="34" charset="-122"/>
                <a:cs typeface="Arial" pitchFamily="34" charset="-120"/>
              </a:rPr>
              <a:t>Assets, tags, P&amp;IDs, history + OT connectors</a:t>
            </a:r>
            <a:endParaRPr lang="en-US" sz="1800" dirty="0"/>
          </a:p>
        </p:txBody>
      </p:sp>
      <p:sp>
        <p:nvSpPr>
          <p:cNvPr id="27" name="Shape 25"/>
          <p:cNvSpPr/>
          <p:nvPr/>
        </p:nvSpPr>
        <p:spPr>
          <a:xfrm>
            <a:off x="5791200" y="5543550"/>
            <a:ext cx="6705600" cy="1885950"/>
          </a:xfrm>
          <a:prstGeom prst="roundRect">
            <a:avLst>
              <a:gd name="adj" fmla="val 4040"/>
            </a:avLst>
          </a:prstGeom>
          <a:solidFill>
            <a:srgbClr val="FAFAFA"/>
          </a:solidFill>
          <a:ln w="9525">
            <a:solidFill>
              <a:srgbClr val="E5E5E5"/>
            </a:solidFill>
            <a:prstDash val="solid"/>
          </a:ln>
        </p:spPr>
        <p:txBody>
          <a:bodyPr/>
          <a:lstStyle/>
          <a:p>
            <a:endParaRPr lang="en-DE"/>
          </a:p>
        </p:txBody>
      </p:sp>
      <p:sp>
        <p:nvSpPr>
          <p:cNvPr id="28" name="Text 26"/>
          <p:cNvSpPr/>
          <p:nvPr/>
        </p:nvSpPr>
        <p:spPr>
          <a:xfrm>
            <a:off x="5972175" y="5667375"/>
            <a:ext cx="6978015"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007A99"/>
                </a:solidFill>
                <a:latin typeface="Arial" pitchFamily="34" charset="0"/>
                <a:ea typeface="Arial" pitchFamily="34" charset="-122"/>
                <a:cs typeface="Arial" pitchFamily="34" charset="-120"/>
              </a:rPr>
              <a:t>NVIDIA AI ENTERPRISE</a:t>
            </a:r>
            <a:endParaRPr lang="en-US" sz="1800" dirty="0"/>
          </a:p>
        </p:txBody>
      </p:sp>
      <p:sp>
        <p:nvSpPr>
          <p:cNvPr id="29" name="Shape 27"/>
          <p:cNvSpPr/>
          <p:nvPr/>
        </p:nvSpPr>
        <p:spPr>
          <a:xfrm>
            <a:off x="5972175" y="6024563"/>
            <a:ext cx="2832348" cy="376238"/>
          </a:xfrm>
          <a:prstGeom prst="roundRect">
            <a:avLst>
              <a:gd name="adj" fmla="val 5063"/>
            </a:avLst>
          </a:prstGeom>
          <a:solidFill>
            <a:srgbClr val="FFFFFF"/>
          </a:solidFill>
          <a:ln w="9525">
            <a:solidFill>
              <a:srgbClr val="007A99"/>
            </a:solidFill>
            <a:prstDash val="solid"/>
          </a:ln>
        </p:spPr>
        <p:txBody>
          <a:bodyPr/>
          <a:lstStyle/>
          <a:p>
            <a:endParaRPr lang="en-DE"/>
          </a:p>
        </p:txBody>
      </p:sp>
      <p:sp>
        <p:nvSpPr>
          <p:cNvPr id="30" name="Text 28"/>
          <p:cNvSpPr/>
          <p:nvPr/>
        </p:nvSpPr>
        <p:spPr>
          <a:xfrm>
            <a:off x="6076950" y="6081713"/>
            <a:ext cx="2707768"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Arial" pitchFamily="34" charset="0"/>
                <a:ea typeface="Arial" pitchFamily="34" charset="-122"/>
                <a:cs typeface="Arial" pitchFamily="34" charset="-120"/>
              </a:rPr>
              <a:t>NIM · Nemotron + vision</a:t>
            </a:r>
            <a:endParaRPr lang="en-US" sz="1800" dirty="0"/>
          </a:p>
        </p:txBody>
      </p:sp>
      <p:sp>
        <p:nvSpPr>
          <p:cNvPr id="31" name="Shape 29"/>
          <p:cNvSpPr/>
          <p:nvPr/>
        </p:nvSpPr>
        <p:spPr>
          <a:xfrm>
            <a:off x="5972175" y="6477000"/>
            <a:ext cx="3497461" cy="376238"/>
          </a:xfrm>
          <a:prstGeom prst="roundRect">
            <a:avLst>
              <a:gd name="adj" fmla="val 5063"/>
            </a:avLst>
          </a:prstGeom>
          <a:solidFill>
            <a:srgbClr val="FFFFFF"/>
          </a:solidFill>
          <a:ln w="9525">
            <a:solidFill>
              <a:srgbClr val="007A99"/>
            </a:solidFill>
            <a:prstDash val="solid"/>
          </a:ln>
        </p:spPr>
        <p:txBody>
          <a:bodyPr/>
          <a:lstStyle/>
          <a:p>
            <a:endParaRPr lang="en-DE"/>
          </a:p>
        </p:txBody>
      </p:sp>
      <p:sp>
        <p:nvSpPr>
          <p:cNvPr id="32" name="Text 30"/>
          <p:cNvSpPr/>
          <p:nvPr/>
        </p:nvSpPr>
        <p:spPr>
          <a:xfrm>
            <a:off x="6076950" y="6534150"/>
            <a:ext cx="339283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Arial" pitchFamily="34" charset="0"/>
                <a:ea typeface="Arial" pitchFamily="34" charset="-122"/>
                <a:cs typeface="Arial" pitchFamily="34" charset="-120"/>
              </a:rPr>
              <a:t>Speech NIM · Arabic + English</a:t>
            </a:r>
            <a:endParaRPr lang="en-US" sz="1800" dirty="0"/>
          </a:p>
        </p:txBody>
      </p:sp>
      <p:sp>
        <p:nvSpPr>
          <p:cNvPr id="33" name="Shape 31"/>
          <p:cNvSpPr/>
          <p:nvPr/>
        </p:nvSpPr>
        <p:spPr>
          <a:xfrm>
            <a:off x="9545836" y="6477000"/>
            <a:ext cx="1886545" cy="376238"/>
          </a:xfrm>
          <a:prstGeom prst="roundRect">
            <a:avLst>
              <a:gd name="adj" fmla="val 5063"/>
            </a:avLst>
          </a:prstGeom>
          <a:solidFill>
            <a:srgbClr val="FFFFFF"/>
          </a:solidFill>
          <a:ln w="9525">
            <a:solidFill>
              <a:srgbClr val="007A99"/>
            </a:solidFill>
            <a:prstDash val="solid"/>
          </a:ln>
        </p:spPr>
        <p:txBody>
          <a:bodyPr/>
          <a:lstStyle/>
          <a:p>
            <a:endParaRPr lang="en-DE"/>
          </a:p>
        </p:txBody>
      </p:sp>
      <p:sp>
        <p:nvSpPr>
          <p:cNvPr id="34" name="Text 32"/>
          <p:cNvSpPr/>
          <p:nvPr/>
        </p:nvSpPr>
        <p:spPr>
          <a:xfrm>
            <a:off x="9650611" y="6534150"/>
            <a:ext cx="175319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Arial" pitchFamily="34" charset="0"/>
                <a:ea typeface="Arial" pitchFamily="34" charset="-122"/>
                <a:cs typeface="Arial" pitchFamily="34" charset="-120"/>
              </a:rPr>
              <a:t>NeMo Retriever</a:t>
            </a:r>
            <a:endParaRPr lang="en-US" sz="1800" dirty="0"/>
          </a:p>
        </p:txBody>
      </p:sp>
      <p:sp>
        <p:nvSpPr>
          <p:cNvPr id="35" name="Shape 33"/>
          <p:cNvSpPr/>
          <p:nvPr/>
        </p:nvSpPr>
        <p:spPr>
          <a:xfrm>
            <a:off x="5972175" y="6929438"/>
            <a:ext cx="2038796" cy="376238"/>
          </a:xfrm>
          <a:prstGeom prst="roundRect">
            <a:avLst>
              <a:gd name="adj" fmla="val 5063"/>
            </a:avLst>
          </a:prstGeom>
          <a:solidFill>
            <a:srgbClr val="FFFFFF"/>
          </a:solidFill>
          <a:ln w="9525">
            <a:solidFill>
              <a:srgbClr val="007A99"/>
            </a:solidFill>
            <a:prstDash val="solid"/>
          </a:ln>
        </p:spPr>
        <p:txBody>
          <a:bodyPr/>
          <a:lstStyle/>
          <a:p>
            <a:endParaRPr lang="en-DE"/>
          </a:p>
        </p:txBody>
      </p:sp>
      <p:sp>
        <p:nvSpPr>
          <p:cNvPr id="36" name="Text 34"/>
          <p:cNvSpPr/>
          <p:nvPr/>
        </p:nvSpPr>
        <p:spPr>
          <a:xfrm>
            <a:off x="6076950" y="6986588"/>
            <a:ext cx="1905446"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Arial" pitchFamily="34" charset="0"/>
                <a:ea typeface="Arial" pitchFamily="34" charset="-122"/>
                <a:cs typeface="Arial" pitchFamily="34" charset="-120"/>
              </a:rPr>
              <a:t>NeMo Guardrails</a:t>
            </a:r>
            <a:endParaRPr lang="en-US" sz="1800" dirty="0"/>
          </a:p>
        </p:txBody>
      </p:sp>
      <p:sp>
        <p:nvSpPr>
          <p:cNvPr id="37" name="Shape 35"/>
          <p:cNvSpPr/>
          <p:nvPr/>
        </p:nvSpPr>
        <p:spPr>
          <a:xfrm>
            <a:off x="8087171" y="6929438"/>
            <a:ext cx="2368897" cy="376238"/>
          </a:xfrm>
          <a:prstGeom prst="roundRect">
            <a:avLst>
              <a:gd name="adj" fmla="val 5063"/>
            </a:avLst>
          </a:prstGeom>
          <a:solidFill>
            <a:srgbClr val="FFFFFF"/>
          </a:solidFill>
          <a:ln w="9525">
            <a:solidFill>
              <a:srgbClr val="007A99"/>
            </a:solidFill>
            <a:prstDash val="solid"/>
          </a:ln>
        </p:spPr>
        <p:txBody>
          <a:bodyPr/>
          <a:lstStyle/>
          <a:p>
            <a:endParaRPr lang="en-DE"/>
          </a:p>
        </p:txBody>
      </p:sp>
      <p:sp>
        <p:nvSpPr>
          <p:cNvPr id="38" name="Text 36"/>
          <p:cNvSpPr/>
          <p:nvPr/>
        </p:nvSpPr>
        <p:spPr>
          <a:xfrm>
            <a:off x="8191946" y="6986588"/>
            <a:ext cx="2235547"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Arial" pitchFamily="34" charset="0"/>
                <a:ea typeface="Arial" pitchFamily="34" charset="-122"/>
                <a:cs typeface="Arial" pitchFamily="34" charset="-120"/>
              </a:rPr>
              <a:t>VSS video blueprint</a:t>
            </a:r>
            <a:endParaRPr lang="en-US" sz="1800" dirty="0"/>
          </a:p>
        </p:txBody>
      </p:sp>
      <p:sp>
        <p:nvSpPr>
          <p:cNvPr id="39" name="Shape 37"/>
          <p:cNvSpPr/>
          <p:nvPr/>
        </p:nvSpPr>
        <p:spPr>
          <a:xfrm>
            <a:off x="5791200" y="7524750"/>
            <a:ext cx="6705600" cy="800100"/>
          </a:xfrm>
          <a:prstGeom prst="roundRect">
            <a:avLst>
              <a:gd name="adj" fmla="val 9524"/>
            </a:avLst>
          </a:prstGeom>
          <a:solidFill>
            <a:srgbClr val="0A0A0A"/>
          </a:solidFill>
          <a:ln/>
        </p:spPr>
        <p:txBody>
          <a:bodyPr/>
          <a:lstStyle/>
          <a:p>
            <a:endParaRPr lang="en-DE"/>
          </a:p>
        </p:txBody>
      </p:sp>
      <p:sp>
        <p:nvSpPr>
          <p:cNvPr id="40" name="Text 38"/>
          <p:cNvSpPr/>
          <p:nvPr/>
        </p:nvSpPr>
        <p:spPr>
          <a:xfrm>
            <a:off x="5962650" y="7639050"/>
            <a:ext cx="3246055" cy="609600"/>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DELL POWEREDGE XR7620</a:t>
            </a:r>
            <a:endParaRPr lang="en-US" sz="1950" dirty="0"/>
          </a:p>
        </p:txBody>
      </p:sp>
      <p:sp>
        <p:nvSpPr>
          <p:cNvPr id="41" name="Text 39"/>
          <p:cNvSpPr/>
          <p:nvPr/>
        </p:nvSpPr>
        <p:spPr>
          <a:xfrm>
            <a:off x="9266560" y="7658100"/>
            <a:ext cx="3150554" cy="561975"/>
          </a:xfrm>
          <a:prstGeom prst="rect">
            <a:avLst/>
          </a:prstGeom>
          <a:noFill/>
          <a:ln/>
        </p:spPr>
        <p:txBody>
          <a:bodyPr wrap="square" lIns="25400" tIns="25400" rIns="25400" bIns="25400" rtlCol="0" anchor="t">
            <a:normAutofit/>
          </a:bodyPr>
          <a:lstStyle/>
          <a:p>
            <a:pPr marL="0" indent="0" algn="l">
              <a:buNone/>
            </a:pPr>
            <a:r>
              <a:rPr lang="en-US" sz="1800" dirty="0">
                <a:solidFill>
                  <a:srgbClr val="D4D4D4"/>
                </a:solidFill>
                <a:latin typeface="Arial" pitchFamily="34" charset="0"/>
                <a:ea typeface="Arial" pitchFamily="34" charset="-122"/>
                <a:cs typeface="Arial" pitchFamily="34" charset="-120"/>
              </a:rPr>
              <a:t>Rugged edge server with GPUs</a:t>
            </a:r>
            <a:endParaRPr lang="en-US" sz="1800" dirty="0"/>
          </a:p>
        </p:txBody>
      </p:sp>
      <p:sp>
        <p:nvSpPr>
          <p:cNvPr id="42" name="Shape 40"/>
          <p:cNvSpPr/>
          <p:nvPr/>
        </p:nvSpPr>
        <p:spPr>
          <a:xfrm>
            <a:off x="5791200" y="8420100"/>
            <a:ext cx="6705600" cy="514350"/>
          </a:xfrm>
          <a:prstGeom prst="roundRect">
            <a:avLst>
              <a:gd name="adj" fmla="val 14815"/>
            </a:avLst>
          </a:prstGeom>
          <a:solidFill>
            <a:srgbClr val="EFEFEF"/>
          </a:solidFill>
          <a:ln/>
        </p:spPr>
        <p:txBody>
          <a:bodyPr/>
          <a:lstStyle/>
          <a:p>
            <a:endParaRPr lang="en-DE"/>
          </a:p>
        </p:txBody>
      </p:sp>
      <p:sp>
        <p:nvSpPr>
          <p:cNvPr id="43" name="Text 41"/>
          <p:cNvSpPr/>
          <p:nvPr/>
        </p:nvSpPr>
        <p:spPr>
          <a:xfrm>
            <a:off x="5962650" y="8534400"/>
            <a:ext cx="2532772" cy="32385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0A0A0A"/>
                </a:solidFill>
                <a:latin typeface="Arial" pitchFamily="34" charset="0"/>
                <a:ea typeface="Arial" pitchFamily="34" charset="-122"/>
                <a:cs typeface="Arial" pitchFamily="34" charset="-120"/>
              </a:rPr>
              <a:t>DELL NATIVE EDGE</a:t>
            </a:r>
            <a:endParaRPr lang="en-US" sz="1950" dirty="0"/>
          </a:p>
        </p:txBody>
      </p:sp>
      <p:sp>
        <p:nvSpPr>
          <p:cNvPr id="44" name="Text 42"/>
          <p:cNvSpPr/>
          <p:nvPr/>
        </p:nvSpPr>
        <p:spPr>
          <a:xfrm>
            <a:off x="9237911" y="8553450"/>
            <a:ext cx="3396183" cy="300038"/>
          </a:xfrm>
          <a:prstGeom prst="rect">
            <a:avLst/>
          </a:prstGeom>
          <a:noFill/>
          <a:ln/>
        </p:spPr>
        <p:txBody>
          <a:bodyPr wrap="square" lIns="25400" tIns="25400" rIns="25400" bIns="25400" rtlCol="0" anchor="t">
            <a:normAutofit/>
          </a:bodyPr>
          <a:lstStyle/>
          <a:p>
            <a:pPr marL="0" indent="0" algn="l">
              <a:buNone/>
            </a:pPr>
            <a:r>
              <a:rPr lang="en-US" sz="1800" dirty="0">
                <a:solidFill>
                  <a:srgbClr val="575757"/>
                </a:solidFill>
                <a:latin typeface="Arial" pitchFamily="34" charset="0"/>
                <a:ea typeface="Arial" pitchFamily="34" charset="-122"/>
                <a:cs typeface="Arial" pitchFamily="34" charset="-120"/>
              </a:rPr>
              <a:t>Zero-touch rollout to every site</a:t>
            </a:r>
            <a:endParaRPr lang="en-US" sz="1800" dirty="0"/>
          </a:p>
        </p:txBody>
      </p:sp>
      <p:sp>
        <p:nvSpPr>
          <p:cNvPr id="46" name="Text 44"/>
          <p:cNvSpPr/>
          <p:nvPr/>
        </p:nvSpPr>
        <p:spPr>
          <a:xfrm>
            <a:off x="13258800" y="3320504"/>
            <a:ext cx="4191000"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E63232"/>
                </a:solidFill>
                <a:latin typeface="Arial" pitchFamily="34" charset="0"/>
                <a:ea typeface="Arial" pitchFamily="34" charset="-122"/>
                <a:cs typeface="Arial" pitchFamily="34" charset="-120"/>
              </a:rPr>
              <a:t>ACTIONS</a:t>
            </a:r>
            <a:endParaRPr lang="en-US" sz="1800" dirty="0"/>
          </a:p>
        </p:txBody>
      </p:sp>
      <p:sp>
        <p:nvSpPr>
          <p:cNvPr id="47" name="Shape 45"/>
          <p:cNvSpPr/>
          <p:nvPr/>
        </p:nvSpPr>
        <p:spPr>
          <a:xfrm>
            <a:off x="13258800" y="3696742"/>
            <a:ext cx="3810000" cy="918121"/>
          </a:xfrm>
          <a:prstGeom prst="roundRect">
            <a:avLst>
              <a:gd name="adj" fmla="val 6225"/>
            </a:avLst>
          </a:prstGeom>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sp>
        <p:nvSpPr>
          <p:cNvPr id="48" name="Shape 46"/>
          <p:cNvSpPr/>
          <p:nvPr/>
        </p:nvSpPr>
        <p:spPr>
          <a:xfrm rot="2700000">
            <a:off x="13458825" y="3915817"/>
            <a:ext cx="114300" cy="114300"/>
          </a:xfrm>
          <a:prstGeom prst="rect">
            <a:avLst/>
          </a:prstGeom>
          <a:solidFill>
            <a:srgbClr val="E63232"/>
          </a:solidFill>
          <a:ln/>
        </p:spPr>
        <p:txBody>
          <a:bodyPr/>
          <a:lstStyle/>
          <a:p>
            <a:endParaRPr lang="en-DE"/>
          </a:p>
        </p:txBody>
      </p:sp>
      <p:sp>
        <p:nvSpPr>
          <p:cNvPr id="49" name="Text 47"/>
          <p:cNvSpPr/>
          <p:nvPr/>
        </p:nvSpPr>
        <p:spPr>
          <a:xfrm>
            <a:off x="13706475" y="3858667"/>
            <a:ext cx="3257169"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Control-room alert with evidence</a:t>
            </a:r>
            <a:endParaRPr lang="en-US" sz="1800" dirty="0"/>
          </a:p>
        </p:txBody>
      </p:sp>
      <p:sp>
        <p:nvSpPr>
          <p:cNvPr id="50" name="Shape 48"/>
          <p:cNvSpPr/>
          <p:nvPr/>
        </p:nvSpPr>
        <p:spPr>
          <a:xfrm>
            <a:off x="13258800" y="4729163"/>
            <a:ext cx="3810000" cy="620985"/>
          </a:xfrm>
          <a:prstGeom prst="roundRect">
            <a:avLst>
              <a:gd name="adj" fmla="val 9203"/>
            </a:avLst>
          </a:prstGeom>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sp>
        <p:nvSpPr>
          <p:cNvPr id="51" name="Shape 49"/>
          <p:cNvSpPr/>
          <p:nvPr/>
        </p:nvSpPr>
        <p:spPr>
          <a:xfrm rot="2700000">
            <a:off x="13458825" y="4948237"/>
            <a:ext cx="114300" cy="114300"/>
          </a:xfrm>
          <a:prstGeom prst="rect">
            <a:avLst/>
          </a:prstGeom>
          <a:solidFill>
            <a:srgbClr val="E63232"/>
          </a:solidFill>
          <a:ln/>
        </p:spPr>
        <p:txBody>
          <a:bodyPr/>
          <a:lstStyle/>
          <a:p>
            <a:endParaRPr lang="en-DE"/>
          </a:p>
        </p:txBody>
      </p:sp>
      <p:sp>
        <p:nvSpPr>
          <p:cNvPr id="52" name="Text 50"/>
          <p:cNvSpPr/>
          <p:nvPr/>
        </p:nvSpPr>
        <p:spPr>
          <a:xfrm>
            <a:off x="13706475" y="4891088"/>
            <a:ext cx="3069989" cy="335235"/>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Work order and permit draft</a:t>
            </a:r>
            <a:endParaRPr lang="en-US" sz="1800" dirty="0"/>
          </a:p>
        </p:txBody>
      </p:sp>
      <p:sp>
        <p:nvSpPr>
          <p:cNvPr id="53" name="Shape 51"/>
          <p:cNvSpPr/>
          <p:nvPr/>
        </p:nvSpPr>
        <p:spPr>
          <a:xfrm>
            <a:off x="13258800" y="5464448"/>
            <a:ext cx="3810000" cy="620985"/>
          </a:xfrm>
          <a:prstGeom prst="roundRect">
            <a:avLst>
              <a:gd name="adj" fmla="val 9203"/>
            </a:avLst>
          </a:prstGeom>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sp>
        <p:nvSpPr>
          <p:cNvPr id="54" name="Shape 52"/>
          <p:cNvSpPr/>
          <p:nvPr/>
        </p:nvSpPr>
        <p:spPr>
          <a:xfrm rot="2700000">
            <a:off x="13458825" y="5683523"/>
            <a:ext cx="114300" cy="114300"/>
          </a:xfrm>
          <a:prstGeom prst="rect">
            <a:avLst/>
          </a:prstGeom>
          <a:solidFill>
            <a:srgbClr val="E63232"/>
          </a:solidFill>
          <a:ln/>
        </p:spPr>
        <p:txBody>
          <a:bodyPr/>
          <a:lstStyle/>
          <a:p>
            <a:endParaRPr lang="en-DE"/>
          </a:p>
        </p:txBody>
      </p:sp>
      <p:sp>
        <p:nvSpPr>
          <p:cNvPr id="55" name="Text 53"/>
          <p:cNvSpPr/>
          <p:nvPr/>
        </p:nvSpPr>
        <p:spPr>
          <a:xfrm>
            <a:off x="13706475" y="5626373"/>
            <a:ext cx="3153728" cy="335235"/>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OGMP 2.0 emissions record</a:t>
            </a:r>
            <a:endParaRPr lang="en-US" sz="1800" dirty="0"/>
          </a:p>
        </p:txBody>
      </p:sp>
      <p:sp>
        <p:nvSpPr>
          <p:cNvPr id="56" name="Shape 54"/>
          <p:cNvSpPr/>
          <p:nvPr/>
        </p:nvSpPr>
        <p:spPr>
          <a:xfrm>
            <a:off x="13258800" y="6199733"/>
            <a:ext cx="3810000" cy="918121"/>
          </a:xfrm>
          <a:prstGeom prst="roundRect">
            <a:avLst>
              <a:gd name="adj" fmla="val 6225"/>
            </a:avLst>
          </a:prstGeom>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sp>
        <p:nvSpPr>
          <p:cNvPr id="57" name="Shape 55"/>
          <p:cNvSpPr/>
          <p:nvPr/>
        </p:nvSpPr>
        <p:spPr>
          <a:xfrm rot="2700000">
            <a:off x="13458825" y="6418808"/>
            <a:ext cx="114300" cy="114300"/>
          </a:xfrm>
          <a:prstGeom prst="rect">
            <a:avLst/>
          </a:prstGeom>
          <a:solidFill>
            <a:srgbClr val="E63232"/>
          </a:solidFill>
          <a:ln/>
        </p:spPr>
        <p:txBody>
          <a:bodyPr/>
          <a:lstStyle/>
          <a:p>
            <a:endParaRPr lang="en-DE"/>
          </a:p>
        </p:txBody>
      </p:sp>
      <p:sp>
        <p:nvSpPr>
          <p:cNvPr id="58" name="Text 56"/>
          <p:cNvSpPr/>
          <p:nvPr/>
        </p:nvSpPr>
        <p:spPr>
          <a:xfrm>
            <a:off x="13706475" y="6361658"/>
            <a:ext cx="3257169"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0A0A0A"/>
                </a:solidFill>
                <a:latin typeface="Arial" pitchFamily="34" charset="0"/>
                <a:ea typeface="Arial" pitchFamily="34" charset="-122"/>
                <a:cs typeface="Arial" pitchFamily="34" charset="-120"/>
              </a:rPr>
              <a:t>Spoken answers: "Ask the plant"</a:t>
            </a:r>
            <a:endParaRPr lang="en-US" sz="1800" dirty="0"/>
          </a:p>
        </p:txBody>
      </p:sp>
      <p:sp>
        <p:nvSpPr>
          <p:cNvPr id="59" name="Shape 57"/>
          <p:cNvSpPr/>
          <p:nvPr/>
        </p:nvSpPr>
        <p:spPr>
          <a:xfrm>
            <a:off x="1219200" y="9229725"/>
            <a:ext cx="15849600" cy="9525"/>
          </a:xfrm>
          <a:prstGeom prst="rect">
            <a:avLst/>
          </a:prstGeom>
          <a:solidFill>
            <a:srgbClr val="E5E5E5"/>
          </a:solidFill>
          <a:ln/>
        </p:spPr>
        <p:txBody>
          <a:bodyPr/>
          <a:lstStyle/>
          <a:p>
            <a:endParaRPr lang="en-DE"/>
          </a:p>
        </p:txBody>
      </p:sp>
      <p:pic>
        <p:nvPicPr>
          <p:cNvPr id="60" name="Image 0" descr="preencoded.png"/>
          <p:cNvPicPr>
            <a:picLocks noChangeAspect="1"/>
          </p:cNvPicPr>
          <p:nvPr/>
        </p:nvPicPr>
        <p:blipFill>
          <a:blip r:embed="rId3"/>
          <a:stretch>
            <a:fillRect/>
          </a:stretch>
        </p:blipFill>
        <p:spPr>
          <a:xfrm>
            <a:off x="1219200" y="9410700"/>
            <a:ext cx="1217563" cy="381000"/>
          </a:xfrm>
          <a:prstGeom prst="rect">
            <a:avLst/>
          </a:prstGeom>
        </p:spPr>
      </p:pic>
      <p:sp>
        <p:nvSpPr>
          <p:cNvPr id="61" name="Text 58"/>
          <p:cNvSpPr/>
          <p:nvPr/>
        </p:nvSpPr>
        <p:spPr>
          <a:xfrm>
            <a:off x="2608213" y="9436894"/>
            <a:ext cx="243111" cy="366713"/>
          </a:xfrm>
          <a:prstGeom prst="rect">
            <a:avLst/>
          </a:prstGeom>
          <a:noFill/>
          <a:ln/>
        </p:spPr>
        <p:txBody>
          <a:bodyPr wrap="square" lIns="25400" tIns="25400" rIns="25400" bIns="25400" rtlCol="0" anchor="t">
            <a:normAutofit/>
          </a:bodyPr>
          <a:lstStyle/>
          <a:p>
            <a:pPr marL="0" indent="0" algn="l">
              <a:buNone/>
            </a:pPr>
            <a:r>
              <a:rPr lang="en-US" sz="2250" dirty="0">
                <a:solidFill>
                  <a:srgbClr val="A0A0A0"/>
                </a:solidFill>
                <a:latin typeface="Arial" pitchFamily="34" charset="0"/>
                <a:ea typeface="Arial" pitchFamily="34" charset="-122"/>
                <a:cs typeface="Arial" pitchFamily="34" charset="-120"/>
              </a:rPr>
              <a:t>×</a:t>
            </a:r>
            <a:endParaRPr lang="en-US" sz="2250" dirty="0"/>
          </a:p>
        </p:txBody>
      </p:sp>
      <p:pic>
        <p:nvPicPr>
          <p:cNvPr id="62" name="Image 1" descr="preencoded.png"/>
          <p:cNvPicPr>
            <a:picLocks noChangeAspect="1"/>
          </p:cNvPicPr>
          <p:nvPr/>
        </p:nvPicPr>
        <p:blipFill>
          <a:blip r:embed="rId4"/>
          <a:stretch>
            <a:fillRect/>
          </a:stretch>
        </p:blipFill>
        <p:spPr>
          <a:xfrm>
            <a:off x="2946574" y="9486900"/>
            <a:ext cx="1749772" cy="228600"/>
          </a:xfrm>
          <a:prstGeom prst="rect">
            <a:avLst/>
          </a:prstGeom>
        </p:spPr>
      </p:pic>
      <p:sp>
        <p:nvSpPr>
          <p:cNvPr id="63" name="Text 59"/>
          <p:cNvSpPr/>
          <p:nvPr/>
        </p:nvSpPr>
        <p:spPr>
          <a:xfrm>
            <a:off x="5058296" y="9470231"/>
            <a:ext cx="286567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6B6B6B"/>
                </a:solidFill>
                <a:latin typeface="Arial" pitchFamily="34" charset="0"/>
                <a:ea typeface="Arial" pitchFamily="34" charset="-122"/>
                <a:cs typeface="Arial" pitchFamily="34" charset="-120"/>
              </a:rPr>
              <a:t>ADIPEC 2026, Abu Dhabi</a:t>
            </a:r>
            <a:endParaRPr lang="en-US" sz="1800" dirty="0"/>
          </a:p>
        </p:txBody>
      </p:sp>
      <p:sp>
        <p:nvSpPr>
          <p:cNvPr id="64" name="Text 60"/>
          <p:cNvSpPr/>
          <p:nvPr/>
        </p:nvSpPr>
        <p:spPr>
          <a:xfrm>
            <a:off x="16794435" y="9472613"/>
            <a:ext cx="35056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Courier New" pitchFamily="34" charset="0"/>
                <a:ea typeface="Courier New" pitchFamily="34" charset="-122"/>
                <a:cs typeface="Courier New"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E63232"/>
          </a:solidFill>
          <a:ln/>
        </p:spPr>
        <p:txBody>
          <a:bodyPr/>
          <a:lstStyle/>
          <a:p>
            <a:endParaRPr lang="en-DE"/>
          </a:p>
        </p:txBody>
      </p:sp>
      <p:sp>
        <p:nvSpPr>
          <p:cNvPr id="3" name="Text 1"/>
          <p:cNvSpPr/>
          <p:nvPr/>
        </p:nvSpPr>
        <p:spPr>
          <a:xfrm>
            <a:off x="1219200" y="723900"/>
            <a:ext cx="1743456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E63232"/>
                </a:solidFill>
                <a:latin typeface="Arial" pitchFamily="34" charset="0"/>
                <a:ea typeface="Arial" pitchFamily="34" charset="-122"/>
                <a:cs typeface="Arial" pitchFamily="34" charset="-120"/>
              </a:rPr>
              <a:t>LIVE AT THE BOOTH</a:t>
            </a:r>
            <a:endParaRPr lang="en-US" sz="1800" dirty="0"/>
          </a:p>
        </p:txBody>
      </p:sp>
      <p:sp>
        <p:nvSpPr>
          <p:cNvPr id="4" name="Text 2"/>
          <p:cNvSpPr/>
          <p:nvPr/>
        </p:nvSpPr>
        <p:spPr>
          <a:xfrm>
            <a:off x="1219200" y="1176338"/>
            <a:ext cx="16325088" cy="1305967"/>
          </a:xfrm>
          <a:prstGeom prst="rect">
            <a:avLst/>
          </a:prstGeom>
          <a:noFill/>
          <a:ln/>
        </p:spPr>
        <p:txBody>
          <a:bodyPr wrap="square" lIns="25400" tIns="25400" rIns="25400" bIns="25400" rtlCol="0" anchor="t">
            <a:normAutofit/>
          </a:bodyPr>
          <a:lstStyle/>
          <a:p>
            <a:pPr marL="0" indent="0" algn="l">
              <a:lnSpc>
                <a:spcPct val="90558"/>
              </a:lnSpc>
              <a:buNone/>
            </a:pPr>
            <a:r>
              <a:rPr lang="en-US" sz="4800" b="1" kern="0" spc="-48" dirty="0">
                <a:solidFill>
                  <a:srgbClr val="0A0A0A"/>
                </a:solidFill>
                <a:latin typeface="Arial" pitchFamily="34" charset="0"/>
                <a:ea typeface="Arial" pitchFamily="34" charset="-122"/>
                <a:cs typeface="Arial" pitchFamily="34" charset="-120"/>
              </a:rPr>
              <a:t>TALK TO THE PLANT. </a:t>
            </a:r>
            <a:r>
              <a:rPr lang="en-US" sz="4800" b="1" kern="0" spc="-48" dirty="0">
                <a:solidFill>
                  <a:srgbClr val="E63232"/>
                </a:solidFill>
                <a:latin typeface="Arial" pitchFamily="34" charset="0"/>
                <a:ea typeface="Arial" pitchFamily="34" charset="-122"/>
                <a:cs typeface="Arial" pitchFamily="34" charset="-120"/>
              </a:rPr>
              <a:t>WATCH THE AGENTS THINK.</a:t>
            </a:r>
            <a:endParaRPr lang="en-US" sz="4800" dirty="0"/>
          </a:p>
        </p:txBody>
      </p:sp>
      <p:sp>
        <p:nvSpPr>
          <p:cNvPr id="5" name="Text 3"/>
          <p:cNvSpPr/>
          <p:nvPr/>
        </p:nvSpPr>
        <p:spPr>
          <a:xfrm>
            <a:off x="1219200" y="2653754"/>
            <a:ext cx="1743456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2A2A2A"/>
                </a:solidFill>
                <a:latin typeface="Arial" pitchFamily="34" charset="0"/>
                <a:ea typeface="Arial" pitchFamily="34" charset="-122"/>
                <a:cs typeface="Arial" pitchFamily="34" charset="-120"/>
              </a:rPr>
              <a:t>Two screens, live on the Dell Power Edge. Questions no gas camera can answer.</a:t>
            </a:r>
            <a:endParaRPr lang="en-US" sz="2250" dirty="0"/>
          </a:p>
        </p:txBody>
      </p:sp>
      <p:sp>
        <p:nvSpPr>
          <p:cNvPr id="6" name="Shape 4"/>
          <p:cNvSpPr/>
          <p:nvPr/>
        </p:nvSpPr>
        <p:spPr>
          <a:xfrm>
            <a:off x="1219200" y="3396704"/>
            <a:ext cx="9222507" cy="5373663"/>
          </a:xfrm>
          <a:prstGeom prst="roundRect">
            <a:avLst>
              <a:gd name="adj" fmla="val 1418"/>
            </a:avLst>
          </a:prstGeom>
          <a:ln w="19050">
            <a:solidFill>
              <a:srgbClr val="E63232"/>
            </a:solidFill>
            <a:prstDash val="solid"/>
          </a:ln>
        </p:spPr>
        <p:txBody>
          <a:bodyPr/>
          <a:lstStyle/>
          <a:p>
            <a:endParaRPr lang="en-DE"/>
          </a:p>
        </p:txBody>
      </p:sp>
      <p:pic>
        <p:nvPicPr>
          <p:cNvPr id="7" name="Image 0" descr="preencoded.png"/>
          <p:cNvPicPr>
            <a:picLocks noChangeAspect="1"/>
          </p:cNvPicPr>
          <p:nvPr/>
        </p:nvPicPr>
        <p:blipFill>
          <a:blip r:embed="rId3"/>
          <a:stretch>
            <a:fillRect/>
          </a:stretch>
        </p:blipFill>
        <p:spPr>
          <a:xfrm>
            <a:off x="1524000" y="3663404"/>
            <a:ext cx="285750" cy="285750"/>
          </a:xfrm>
          <a:prstGeom prst="rect">
            <a:avLst/>
          </a:prstGeom>
        </p:spPr>
      </p:pic>
      <p:sp>
        <p:nvSpPr>
          <p:cNvPr id="8" name="Text 5"/>
          <p:cNvSpPr/>
          <p:nvPr/>
        </p:nvSpPr>
        <p:spPr>
          <a:xfrm>
            <a:off x="1924050" y="3675311"/>
            <a:ext cx="2245787"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E63232"/>
                </a:solidFill>
                <a:latin typeface="Arial" pitchFamily="34" charset="0"/>
                <a:ea typeface="Arial" pitchFamily="34" charset="-122"/>
                <a:cs typeface="Arial" pitchFamily="34" charset="-120"/>
              </a:rPr>
              <a:t>HERO MOMENT</a:t>
            </a:r>
            <a:endParaRPr lang="en-US" sz="1800" dirty="0"/>
          </a:p>
        </p:txBody>
      </p:sp>
      <p:sp>
        <p:nvSpPr>
          <p:cNvPr id="9" name="Text 6"/>
          <p:cNvSpPr/>
          <p:nvPr/>
        </p:nvSpPr>
        <p:spPr>
          <a:xfrm>
            <a:off x="1524000" y="4101554"/>
            <a:ext cx="9474198"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0A0A0A"/>
                </a:solidFill>
                <a:latin typeface="Arial" pitchFamily="34" charset="0"/>
                <a:ea typeface="Arial" pitchFamily="34" charset="-122"/>
                <a:cs typeface="Arial" pitchFamily="34" charset="-120"/>
              </a:rPr>
              <a:t>Ask the plant, in Arabic or English</a:t>
            </a:r>
            <a:endParaRPr lang="en-US" sz="2550" dirty="0"/>
          </a:p>
        </p:txBody>
      </p:sp>
      <p:sp>
        <p:nvSpPr>
          <p:cNvPr id="10" name="Shape 7"/>
          <p:cNvSpPr/>
          <p:nvPr/>
        </p:nvSpPr>
        <p:spPr>
          <a:xfrm>
            <a:off x="1524000" y="4625429"/>
            <a:ext cx="8612907" cy="1093440"/>
          </a:xfrm>
          <a:prstGeom prst="roundRect">
            <a:avLst>
              <a:gd name="adj" fmla="val 6969"/>
            </a:avLst>
          </a:prstGeom>
          <a:solidFill>
            <a:srgbClr val="FAFAFA"/>
          </a:solidFill>
          <a:ln w="9525">
            <a:solidFill>
              <a:srgbClr val="E5E5E5"/>
            </a:solidFill>
            <a:prstDash val="solid"/>
          </a:ln>
        </p:spPr>
        <p:txBody>
          <a:bodyPr/>
          <a:lstStyle/>
          <a:p>
            <a:endParaRPr lang="en-DE"/>
          </a:p>
        </p:txBody>
      </p:sp>
      <p:sp>
        <p:nvSpPr>
          <p:cNvPr id="11" name="Text 8"/>
          <p:cNvSpPr/>
          <p:nvPr/>
        </p:nvSpPr>
        <p:spPr>
          <a:xfrm>
            <a:off x="925599" y="4787354"/>
            <a:ext cx="8992233" cy="464790"/>
          </a:xfrm>
          <a:prstGeom prst="rect">
            <a:avLst/>
          </a:prstGeom>
          <a:noFill/>
          <a:ln/>
        </p:spPr>
        <p:txBody>
          <a:bodyPr wrap="square" lIns="25400" tIns="25400" rIns="25400" bIns="25400" rtlCol="0" anchor="t">
            <a:normAutofit/>
          </a:bodyPr>
          <a:lstStyle/>
          <a:p>
            <a:pPr marL="0" indent="0" algn="r">
              <a:lnSpc>
                <a:spcPct val="121081"/>
              </a:lnSpc>
              <a:buNone/>
            </a:pPr>
            <a:r>
              <a:rPr lang="en-US" sz="2400" dirty="0">
                <a:solidFill>
                  <a:srgbClr val="0A0A0A"/>
                </a:solidFill>
                <a:latin typeface="Arial" pitchFamily="34" charset="0"/>
                <a:ea typeface="Arial" pitchFamily="34" charset="-122"/>
                <a:cs typeface="Arial" pitchFamily="34" charset="-120"/>
              </a:rPr>
              <a:t>لماذا يتسرب الضاغط K-201، وماذا حدث في المرة الماضية؟</a:t>
            </a:r>
            <a:endParaRPr lang="en-US" sz="2400" dirty="0"/>
          </a:p>
        </p:txBody>
      </p:sp>
      <p:sp>
        <p:nvSpPr>
          <p:cNvPr id="12" name="Text 9"/>
          <p:cNvSpPr/>
          <p:nvPr/>
        </p:nvSpPr>
        <p:spPr>
          <a:xfrm>
            <a:off x="1743075" y="5271195"/>
            <a:ext cx="8992233" cy="323850"/>
          </a:xfrm>
          <a:prstGeom prst="rect">
            <a:avLst/>
          </a:prstGeom>
          <a:noFill/>
          <a:ln/>
        </p:spPr>
        <p:txBody>
          <a:bodyPr wrap="square" lIns="25400" tIns="25400" rIns="25400" bIns="25400" rtlCol="0" anchor="t">
            <a:normAutofit/>
          </a:bodyPr>
          <a:lstStyle/>
          <a:p>
            <a:pPr marL="0" indent="0" algn="l">
              <a:buNone/>
            </a:pPr>
            <a:r>
              <a:rPr lang="en-US" sz="1950" i="1" dirty="0">
                <a:solidFill>
                  <a:srgbClr val="575757"/>
                </a:solidFill>
                <a:latin typeface="Arial" pitchFamily="34" charset="0"/>
                <a:ea typeface="Arial" pitchFamily="34" charset="-122"/>
                <a:cs typeface="Arial" pitchFamily="34" charset="-120"/>
              </a:rPr>
              <a:t>"Why is K-201 leaking, and what happened last time?"</a:t>
            </a:r>
            <a:endParaRPr lang="en-US" sz="1950" dirty="0"/>
          </a:p>
        </p:txBody>
      </p:sp>
      <p:sp>
        <p:nvSpPr>
          <p:cNvPr id="13" name="Shape 10"/>
          <p:cNvSpPr/>
          <p:nvPr/>
        </p:nvSpPr>
        <p:spPr>
          <a:xfrm>
            <a:off x="1524000" y="5871270"/>
            <a:ext cx="381000" cy="381000"/>
          </a:xfrm>
          <a:prstGeom prst="ellipse">
            <a:avLst/>
          </a:prstGeom>
          <a:solidFill>
            <a:srgbClr val="E63232"/>
          </a:solidFill>
          <a:ln/>
        </p:spPr>
        <p:txBody>
          <a:bodyPr/>
          <a:lstStyle/>
          <a:p>
            <a:endParaRPr lang="en-DE"/>
          </a:p>
        </p:txBody>
      </p:sp>
      <p:sp>
        <p:nvSpPr>
          <p:cNvPr id="14" name="Text 11"/>
          <p:cNvSpPr/>
          <p:nvPr/>
        </p:nvSpPr>
        <p:spPr>
          <a:xfrm>
            <a:off x="1485900" y="5871270"/>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5" name="Text 12"/>
          <p:cNvSpPr/>
          <p:nvPr/>
        </p:nvSpPr>
        <p:spPr>
          <a:xfrm>
            <a:off x="2019300" y="5871270"/>
            <a:ext cx="2515419"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0A0A0A"/>
                </a:solidFill>
                <a:latin typeface="Arial" pitchFamily="34" charset="0"/>
                <a:ea typeface="Arial" pitchFamily="34" charset="-122"/>
                <a:cs typeface="Arial" pitchFamily="34" charset="-120"/>
              </a:rPr>
              <a:t>Speak</a:t>
            </a:r>
            <a:endParaRPr lang="en-US" sz="1950" dirty="0"/>
          </a:p>
        </p:txBody>
      </p:sp>
      <p:sp>
        <p:nvSpPr>
          <p:cNvPr id="16" name="Text 13"/>
          <p:cNvSpPr/>
          <p:nvPr/>
        </p:nvSpPr>
        <p:spPr>
          <a:xfrm>
            <a:off x="2019300" y="6195120"/>
            <a:ext cx="2362944" cy="929506"/>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575757"/>
                </a:solidFill>
                <a:latin typeface="Arial" pitchFamily="34" charset="0"/>
                <a:ea typeface="Arial" pitchFamily="34" charset="-122"/>
                <a:cs typeface="Arial" pitchFamily="34" charset="-120"/>
              </a:rPr>
              <a:t>Speech NIM transcribes Arabic or English</a:t>
            </a:r>
            <a:endParaRPr lang="en-US" sz="1800" dirty="0"/>
          </a:p>
        </p:txBody>
      </p:sp>
      <p:sp>
        <p:nvSpPr>
          <p:cNvPr id="17" name="Shape 14"/>
          <p:cNvSpPr/>
          <p:nvPr/>
        </p:nvSpPr>
        <p:spPr>
          <a:xfrm>
            <a:off x="4439394" y="5871270"/>
            <a:ext cx="381000" cy="381000"/>
          </a:xfrm>
          <a:prstGeom prst="ellipse">
            <a:avLst/>
          </a:prstGeom>
          <a:solidFill>
            <a:srgbClr val="E63232"/>
          </a:solidFill>
          <a:ln/>
        </p:spPr>
        <p:txBody>
          <a:bodyPr/>
          <a:lstStyle/>
          <a:p>
            <a:endParaRPr lang="en-DE"/>
          </a:p>
        </p:txBody>
      </p:sp>
      <p:sp>
        <p:nvSpPr>
          <p:cNvPr id="18" name="Text 15"/>
          <p:cNvSpPr/>
          <p:nvPr/>
        </p:nvSpPr>
        <p:spPr>
          <a:xfrm>
            <a:off x="4401294" y="5871270"/>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9" name="Text 16"/>
          <p:cNvSpPr/>
          <p:nvPr/>
        </p:nvSpPr>
        <p:spPr>
          <a:xfrm>
            <a:off x="4934694" y="5871270"/>
            <a:ext cx="2515419"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0A0A0A"/>
                </a:solidFill>
                <a:latin typeface="Arial" pitchFamily="34" charset="0"/>
                <a:ea typeface="Arial" pitchFamily="34" charset="-122"/>
                <a:cs typeface="Arial" pitchFamily="34" charset="-120"/>
              </a:rPr>
              <a:t>Graph walk</a:t>
            </a:r>
            <a:endParaRPr lang="en-US" sz="1950" dirty="0"/>
          </a:p>
        </p:txBody>
      </p:sp>
      <p:sp>
        <p:nvSpPr>
          <p:cNvPr id="20" name="Text 17"/>
          <p:cNvSpPr/>
          <p:nvPr/>
        </p:nvSpPr>
        <p:spPr>
          <a:xfrm>
            <a:off x="4934694" y="6195120"/>
            <a:ext cx="2362944"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575757"/>
                </a:solidFill>
                <a:latin typeface="Arial" pitchFamily="34" charset="0"/>
                <a:ea typeface="Arial" pitchFamily="34" charset="-122"/>
                <a:cs typeface="Arial" pitchFamily="34" charset="-120"/>
              </a:rPr>
              <a:t>The path lights up on the P&amp;ID</a:t>
            </a:r>
            <a:endParaRPr lang="en-US" sz="1800" dirty="0"/>
          </a:p>
        </p:txBody>
      </p:sp>
      <p:sp>
        <p:nvSpPr>
          <p:cNvPr id="21" name="Shape 18"/>
          <p:cNvSpPr/>
          <p:nvPr/>
        </p:nvSpPr>
        <p:spPr>
          <a:xfrm>
            <a:off x="7354788" y="5871270"/>
            <a:ext cx="381000" cy="381000"/>
          </a:xfrm>
          <a:prstGeom prst="ellipse">
            <a:avLst/>
          </a:prstGeom>
          <a:solidFill>
            <a:srgbClr val="E63232"/>
          </a:solidFill>
          <a:ln/>
        </p:spPr>
        <p:txBody>
          <a:bodyPr/>
          <a:lstStyle/>
          <a:p>
            <a:endParaRPr lang="en-DE"/>
          </a:p>
        </p:txBody>
      </p:sp>
      <p:sp>
        <p:nvSpPr>
          <p:cNvPr id="22" name="Text 19"/>
          <p:cNvSpPr/>
          <p:nvPr/>
        </p:nvSpPr>
        <p:spPr>
          <a:xfrm>
            <a:off x="7316688" y="5871270"/>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3" name="Text 20"/>
          <p:cNvSpPr/>
          <p:nvPr/>
        </p:nvSpPr>
        <p:spPr>
          <a:xfrm>
            <a:off x="7850088" y="5871270"/>
            <a:ext cx="2515419" cy="323850"/>
          </a:xfrm>
          <a:prstGeom prst="rect">
            <a:avLst/>
          </a:prstGeom>
          <a:noFill/>
          <a:ln/>
        </p:spPr>
        <p:txBody>
          <a:bodyPr wrap="square" lIns="25400" tIns="25400" rIns="25400" bIns="25400" rtlCol="0" anchor="t">
            <a:normAutofit/>
          </a:bodyPr>
          <a:lstStyle/>
          <a:p>
            <a:pPr marL="0" indent="0" algn="l">
              <a:buNone/>
            </a:pPr>
            <a:r>
              <a:rPr lang="en-US" sz="1950" b="1" dirty="0">
                <a:solidFill>
                  <a:srgbClr val="0A0A0A"/>
                </a:solidFill>
                <a:latin typeface="Arial" pitchFamily="34" charset="0"/>
                <a:ea typeface="Arial" pitchFamily="34" charset="-122"/>
                <a:cs typeface="Arial" pitchFamily="34" charset="-120"/>
              </a:rPr>
              <a:t>Answer</a:t>
            </a:r>
            <a:endParaRPr lang="en-US" sz="1950" dirty="0"/>
          </a:p>
        </p:txBody>
      </p:sp>
      <p:sp>
        <p:nvSpPr>
          <p:cNvPr id="24" name="Text 21"/>
          <p:cNvSpPr/>
          <p:nvPr/>
        </p:nvSpPr>
        <p:spPr>
          <a:xfrm>
            <a:off x="7850088" y="6195120"/>
            <a:ext cx="2362944" cy="632371"/>
          </a:xfrm>
          <a:prstGeom prst="rect">
            <a:avLst/>
          </a:prstGeom>
          <a:noFill/>
          <a:ln/>
        </p:spPr>
        <p:txBody>
          <a:bodyPr wrap="square" lIns="25400" tIns="25400" rIns="25400" bIns="25400" rtlCol="0" anchor="t">
            <a:normAutofit/>
          </a:bodyPr>
          <a:lstStyle/>
          <a:p>
            <a:pPr marL="0" indent="0" algn="l">
              <a:lnSpc>
                <a:spcPct val="113455"/>
              </a:lnSpc>
              <a:buNone/>
            </a:pPr>
            <a:r>
              <a:rPr lang="en-US" sz="1800" dirty="0">
                <a:solidFill>
                  <a:srgbClr val="575757"/>
                </a:solidFill>
                <a:latin typeface="Arial" pitchFamily="34" charset="0"/>
                <a:ea typeface="Arial" pitchFamily="34" charset="-122"/>
                <a:cs typeface="Arial" pitchFamily="34" charset="-120"/>
              </a:rPr>
              <a:t>Spoken reply, every source cited</a:t>
            </a:r>
            <a:endParaRPr lang="en-US" sz="1800" dirty="0"/>
          </a:p>
        </p:txBody>
      </p:sp>
      <p:sp>
        <p:nvSpPr>
          <p:cNvPr id="25" name="Shape 22"/>
          <p:cNvSpPr/>
          <p:nvPr/>
        </p:nvSpPr>
        <p:spPr>
          <a:xfrm>
            <a:off x="1524000" y="7238926"/>
            <a:ext cx="8612907" cy="1264741"/>
          </a:xfrm>
          <a:prstGeom prst="roundRect">
            <a:avLst>
              <a:gd name="adj" fmla="val 4519"/>
            </a:avLst>
          </a:prstGeom>
          <a:solidFill>
            <a:srgbClr val="FDF0F0"/>
          </a:solidFill>
          <a:ln/>
        </p:spPr>
        <p:txBody>
          <a:bodyPr/>
          <a:lstStyle/>
          <a:p>
            <a:endParaRPr lang="en-DE"/>
          </a:p>
        </p:txBody>
      </p:sp>
      <p:sp>
        <p:nvSpPr>
          <p:cNvPr id="26" name="Text 23"/>
          <p:cNvSpPr/>
          <p:nvPr/>
        </p:nvSpPr>
        <p:spPr>
          <a:xfrm>
            <a:off x="1733550" y="7391326"/>
            <a:ext cx="8452194" cy="998041"/>
          </a:xfrm>
          <a:prstGeom prst="rect">
            <a:avLst/>
          </a:prstGeom>
          <a:noFill/>
          <a:ln/>
        </p:spPr>
        <p:txBody>
          <a:bodyPr wrap="square" lIns="25400" tIns="25400" rIns="25400" bIns="25400" rtlCol="0" anchor="t">
            <a:normAutofit/>
          </a:bodyPr>
          <a:lstStyle/>
          <a:p>
            <a:pPr marL="0" indent="0" algn="l">
              <a:lnSpc>
                <a:spcPct val="122182"/>
              </a:lnSpc>
              <a:buNone/>
            </a:pPr>
            <a:r>
              <a:rPr lang="en-US" sz="1800" b="1" dirty="0">
                <a:solidFill>
                  <a:srgbClr val="E63232"/>
                </a:solidFill>
                <a:latin typeface="Arial" pitchFamily="34" charset="0"/>
                <a:ea typeface="Arial" pitchFamily="34" charset="-122"/>
                <a:cs typeface="Arial" pitchFamily="34" charset="-120"/>
              </a:rPr>
              <a:t>Example answer: </a:t>
            </a:r>
            <a:r>
              <a:rPr lang="en-US" sz="1800" dirty="0">
                <a:solidFill>
                  <a:srgbClr val="0A0A0A"/>
                </a:solidFill>
                <a:highlight>
                  <a:srgbClr val="FDF0F0"/>
                </a:highlight>
                <a:latin typeface="Arial" pitchFamily="34" charset="0"/>
                <a:ea typeface="Arial" pitchFamily="34" charset="-122"/>
                <a:cs typeface="Arial" pitchFamily="34" charset="-120"/>
              </a:rPr>
              <a:t>"Packing failure on valve XV-2104. The same packing was replaced 14 months ago. Recommended: isolate, re-pack, upgrade to low-emission packing."</a:t>
            </a:r>
            <a:endParaRPr lang="en-US" sz="1800" dirty="0"/>
          </a:p>
        </p:txBody>
      </p:sp>
      <p:sp>
        <p:nvSpPr>
          <p:cNvPr id="27" name="Shape 24"/>
          <p:cNvSpPr/>
          <p:nvPr/>
        </p:nvSpPr>
        <p:spPr>
          <a:xfrm>
            <a:off x="10708407" y="3396704"/>
            <a:ext cx="6360319" cy="5373663"/>
          </a:xfrm>
          <a:prstGeom prst="roundRect">
            <a:avLst>
              <a:gd name="adj" fmla="val 1418"/>
            </a:avLst>
          </a:prstGeom>
          <a:ln w="9525">
            <a:solidFill>
              <a:srgbClr val="E5E5E5"/>
            </a:solidFill>
            <a:prstDash val="solid"/>
          </a:ln>
          <a:effectLst>
            <a:outerShdw blurRad="19050" dist="9525" dir="5400000" algn="bl" rotWithShape="0">
              <a:srgbClr val="0F0F0F">
                <a:alpha val="6000"/>
              </a:srgbClr>
            </a:outerShdw>
          </a:effectLst>
        </p:spPr>
        <p:txBody>
          <a:bodyPr/>
          <a:lstStyle/>
          <a:p>
            <a:endParaRPr lang="en-DE"/>
          </a:p>
        </p:txBody>
      </p:sp>
      <p:pic>
        <p:nvPicPr>
          <p:cNvPr id="28" name="Image 1" descr="preencoded.png"/>
          <p:cNvPicPr>
            <a:picLocks noChangeAspect="1"/>
          </p:cNvPicPr>
          <p:nvPr/>
        </p:nvPicPr>
        <p:blipFill>
          <a:blip r:embed="rId4"/>
          <a:stretch>
            <a:fillRect/>
          </a:stretch>
        </p:blipFill>
        <p:spPr>
          <a:xfrm>
            <a:off x="11003682" y="3653879"/>
            <a:ext cx="285750" cy="285750"/>
          </a:xfrm>
          <a:prstGeom prst="rect">
            <a:avLst/>
          </a:prstGeom>
        </p:spPr>
      </p:pic>
      <p:sp>
        <p:nvSpPr>
          <p:cNvPr id="29" name="Text 25"/>
          <p:cNvSpPr/>
          <p:nvPr/>
        </p:nvSpPr>
        <p:spPr>
          <a:xfrm>
            <a:off x="11403732" y="3665786"/>
            <a:ext cx="3100358" cy="300038"/>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007A99"/>
                </a:solidFill>
                <a:latin typeface="Arial" pitchFamily="34" charset="0"/>
                <a:ea typeface="Arial" pitchFamily="34" charset="-122"/>
                <a:cs typeface="Arial" pitchFamily="34" charset="-120"/>
              </a:rPr>
              <a:t>ALWAYS-ON SCREEN</a:t>
            </a:r>
            <a:endParaRPr lang="en-US" sz="1800" dirty="0"/>
          </a:p>
        </p:txBody>
      </p:sp>
      <p:sp>
        <p:nvSpPr>
          <p:cNvPr id="30" name="Text 26"/>
          <p:cNvSpPr/>
          <p:nvPr/>
        </p:nvSpPr>
        <p:spPr>
          <a:xfrm>
            <a:off x="11003682" y="4092029"/>
            <a:ext cx="6346746"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0A0A0A"/>
                </a:solidFill>
                <a:latin typeface="Arial" pitchFamily="34" charset="0"/>
                <a:ea typeface="Arial" pitchFamily="34" charset="-122"/>
                <a:cs typeface="Arial" pitchFamily="34" charset="-120"/>
              </a:rPr>
              <a:t>The glass box</a:t>
            </a:r>
            <a:endParaRPr lang="en-US" sz="2550" dirty="0"/>
          </a:p>
        </p:txBody>
      </p:sp>
      <p:sp>
        <p:nvSpPr>
          <p:cNvPr id="31" name="Shape 27"/>
          <p:cNvSpPr/>
          <p:nvPr/>
        </p:nvSpPr>
        <p:spPr>
          <a:xfrm>
            <a:off x="11003682" y="4615904"/>
            <a:ext cx="5769769" cy="9525"/>
          </a:xfrm>
          <a:prstGeom prst="rect">
            <a:avLst/>
          </a:prstGeom>
          <a:solidFill>
            <a:srgbClr val="E5E5E5"/>
          </a:solidFill>
          <a:ln/>
        </p:spPr>
        <p:txBody>
          <a:bodyPr/>
          <a:lstStyle/>
          <a:p>
            <a:endParaRPr lang="en-DE"/>
          </a:p>
        </p:txBody>
      </p:sp>
      <p:sp>
        <p:nvSpPr>
          <p:cNvPr id="32" name="Shape 28"/>
          <p:cNvSpPr/>
          <p:nvPr/>
        </p:nvSpPr>
        <p:spPr>
          <a:xfrm>
            <a:off x="11003682" y="5077867"/>
            <a:ext cx="5769769" cy="9525"/>
          </a:xfrm>
          <a:prstGeom prst="rect">
            <a:avLst/>
          </a:prstGeom>
          <a:solidFill>
            <a:srgbClr val="F0F0F0"/>
          </a:solidFill>
          <a:ln/>
        </p:spPr>
        <p:txBody>
          <a:bodyPr/>
          <a:lstStyle/>
          <a:p>
            <a:endParaRPr lang="en-DE"/>
          </a:p>
        </p:txBody>
      </p:sp>
      <p:sp>
        <p:nvSpPr>
          <p:cNvPr id="33" name="Text 29"/>
          <p:cNvSpPr/>
          <p:nvPr/>
        </p:nvSpPr>
        <p:spPr>
          <a:xfrm>
            <a:off x="11003682" y="4720679"/>
            <a:ext cx="136207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00:00.4</a:t>
            </a:r>
            <a:endParaRPr lang="en-US" sz="1800" dirty="0"/>
          </a:p>
        </p:txBody>
      </p:sp>
      <p:sp>
        <p:nvSpPr>
          <p:cNvPr id="34" name="Text 30"/>
          <p:cNvSpPr/>
          <p:nvPr/>
        </p:nvSpPr>
        <p:spPr>
          <a:xfrm>
            <a:off x="12356232" y="4720679"/>
            <a:ext cx="112395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Arial" pitchFamily="34" charset="0"/>
                <a:ea typeface="Arial" pitchFamily="34" charset="-122"/>
                <a:cs typeface="Arial" pitchFamily="34" charset="-120"/>
              </a:rPr>
              <a:t>Vision</a:t>
            </a:r>
            <a:endParaRPr lang="en-US" sz="1800" dirty="0"/>
          </a:p>
        </p:txBody>
      </p:sp>
      <p:sp>
        <p:nvSpPr>
          <p:cNvPr id="35" name="Text 31"/>
          <p:cNvSpPr/>
          <p:nvPr/>
        </p:nvSpPr>
        <p:spPr>
          <a:xfrm>
            <a:off x="13518282" y="4720679"/>
            <a:ext cx="358068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575757"/>
                </a:solidFill>
                <a:latin typeface="Arial" pitchFamily="34" charset="0"/>
                <a:ea typeface="Arial" pitchFamily="34" charset="-122"/>
                <a:cs typeface="Arial" pitchFamily="34" charset="-120"/>
              </a:rPr>
              <a:t>plume found, camera 3</a:t>
            </a:r>
            <a:endParaRPr lang="en-US" sz="1800" dirty="0"/>
          </a:p>
        </p:txBody>
      </p:sp>
      <p:sp>
        <p:nvSpPr>
          <p:cNvPr id="36" name="Shape 32"/>
          <p:cNvSpPr/>
          <p:nvPr/>
        </p:nvSpPr>
        <p:spPr>
          <a:xfrm>
            <a:off x="11003682" y="5539829"/>
            <a:ext cx="5769769" cy="9525"/>
          </a:xfrm>
          <a:prstGeom prst="rect">
            <a:avLst/>
          </a:prstGeom>
          <a:solidFill>
            <a:srgbClr val="F0F0F0"/>
          </a:solidFill>
          <a:ln/>
        </p:spPr>
        <p:txBody>
          <a:bodyPr/>
          <a:lstStyle/>
          <a:p>
            <a:endParaRPr lang="en-DE"/>
          </a:p>
        </p:txBody>
      </p:sp>
      <p:sp>
        <p:nvSpPr>
          <p:cNvPr id="37" name="Text 33"/>
          <p:cNvSpPr/>
          <p:nvPr/>
        </p:nvSpPr>
        <p:spPr>
          <a:xfrm>
            <a:off x="11003682" y="5182642"/>
            <a:ext cx="136207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00:01.1</a:t>
            </a:r>
            <a:endParaRPr lang="en-US" sz="1800" dirty="0"/>
          </a:p>
        </p:txBody>
      </p:sp>
      <p:sp>
        <p:nvSpPr>
          <p:cNvPr id="38" name="Text 34"/>
          <p:cNvSpPr/>
          <p:nvPr/>
        </p:nvSpPr>
        <p:spPr>
          <a:xfrm>
            <a:off x="12356232" y="5182642"/>
            <a:ext cx="112395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Arial" pitchFamily="34" charset="0"/>
                <a:ea typeface="Arial" pitchFamily="34" charset="-122"/>
                <a:cs typeface="Arial" pitchFamily="34" charset="-120"/>
              </a:rPr>
              <a:t>Graph</a:t>
            </a:r>
            <a:endParaRPr lang="en-US" sz="1800" dirty="0"/>
          </a:p>
        </p:txBody>
      </p:sp>
      <p:sp>
        <p:nvSpPr>
          <p:cNvPr id="39" name="Text 35"/>
          <p:cNvSpPr/>
          <p:nvPr/>
        </p:nvSpPr>
        <p:spPr>
          <a:xfrm>
            <a:off x="13518282" y="5182642"/>
            <a:ext cx="358068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575757"/>
                </a:solidFill>
                <a:latin typeface="Arial" pitchFamily="34" charset="0"/>
                <a:ea typeface="Arial" pitchFamily="34" charset="-122"/>
                <a:cs typeface="Arial" pitchFamily="34" charset="-120"/>
              </a:rPr>
              <a:t>P&amp;ID path to XV-2104</a:t>
            </a:r>
            <a:endParaRPr lang="en-US" sz="1800" dirty="0"/>
          </a:p>
        </p:txBody>
      </p:sp>
      <p:sp>
        <p:nvSpPr>
          <p:cNvPr id="40" name="Shape 36"/>
          <p:cNvSpPr/>
          <p:nvPr/>
        </p:nvSpPr>
        <p:spPr>
          <a:xfrm>
            <a:off x="11003682" y="6001792"/>
            <a:ext cx="5769769" cy="9525"/>
          </a:xfrm>
          <a:prstGeom prst="rect">
            <a:avLst/>
          </a:prstGeom>
          <a:solidFill>
            <a:srgbClr val="F0F0F0"/>
          </a:solidFill>
          <a:ln/>
        </p:spPr>
        <p:txBody>
          <a:bodyPr/>
          <a:lstStyle/>
          <a:p>
            <a:endParaRPr lang="en-DE"/>
          </a:p>
        </p:txBody>
      </p:sp>
      <p:sp>
        <p:nvSpPr>
          <p:cNvPr id="41" name="Text 37"/>
          <p:cNvSpPr/>
          <p:nvPr/>
        </p:nvSpPr>
        <p:spPr>
          <a:xfrm>
            <a:off x="11003682" y="5644604"/>
            <a:ext cx="136207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00:02.0</a:t>
            </a:r>
            <a:endParaRPr lang="en-US" sz="1800" dirty="0"/>
          </a:p>
        </p:txBody>
      </p:sp>
      <p:sp>
        <p:nvSpPr>
          <p:cNvPr id="42" name="Text 38"/>
          <p:cNvSpPr/>
          <p:nvPr/>
        </p:nvSpPr>
        <p:spPr>
          <a:xfrm>
            <a:off x="12356232" y="5644604"/>
            <a:ext cx="112395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Arial" pitchFamily="34" charset="0"/>
                <a:ea typeface="Arial" pitchFamily="34" charset="-122"/>
                <a:cs typeface="Arial" pitchFamily="34" charset="-120"/>
              </a:rPr>
              <a:t>Emissions</a:t>
            </a:r>
            <a:endParaRPr lang="en-US" sz="1800" dirty="0"/>
          </a:p>
        </p:txBody>
      </p:sp>
      <p:sp>
        <p:nvSpPr>
          <p:cNvPr id="43" name="Text 39"/>
          <p:cNvSpPr/>
          <p:nvPr/>
        </p:nvSpPr>
        <p:spPr>
          <a:xfrm>
            <a:off x="13518282" y="5644604"/>
            <a:ext cx="358068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575757"/>
                </a:solidFill>
                <a:latin typeface="Arial" pitchFamily="34" charset="0"/>
                <a:ea typeface="Arial" pitchFamily="34" charset="-122"/>
                <a:cs typeface="Arial" pitchFamily="34" charset="-120"/>
              </a:rPr>
              <a:t>leak rate estimated</a:t>
            </a:r>
            <a:endParaRPr lang="en-US" sz="1800" dirty="0"/>
          </a:p>
        </p:txBody>
      </p:sp>
      <p:sp>
        <p:nvSpPr>
          <p:cNvPr id="44" name="Shape 40"/>
          <p:cNvSpPr/>
          <p:nvPr/>
        </p:nvSpPr>
        <p:spPr>
          <a:xfrm>
            <a:off x="11003682" y="6463754"/>
            <a:ext cx="5769769" cy="9525"/>
          </a:xfrm>
          <a:prstGeom prst="rect">
            <a:avLst/>
          </a:prstGeom>
          <a:solidFill>
            <a:srgbClr val="F0F0F0"/>
          </a:solidFill>
          <a:ln/>
        </p:spPr>
        <p:txBody>
          <a:bodyPr/>
          <a:lstStyle/>
          <a:p>
            <a:endParaRPr lang="en-DE"/>
          </a:p>
        </p:txBody>
      </p:sp>
      <p:sp>
        <p:nvSpPr>
          <p:cNvPr id="45" name="Text 41"/>
          <p:cNvSpPr/>
          <p:nvPr/>
        </p:nvSpPr>
        <p:spPr>
          <a:xfrm>
            <a:off x="11003682" y="6106567"/>
            <a:ext cx="136207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07A99"/>
                </a:solidFill>
                <a:latin typeface="Courier New" pitchFamily="34" charset="0"/>
                <a:ea typeface="Courier New" pitchFamily="34" charset="-122"/>
                <a:cs typeface="Courier New" pitchFamily="34" charset="-120"/>
              </a:rPr>
              <a:t>00:03.2</a:t>
            </a:r>
            <a:endParaRPr lang="en-US" sz="1800" dirty="0"/>
          </a:p>
        </p:txBody>
      </p:sp>
      <p:sp>
        <p:nvSpPr>
          <p:cNvPr id="46" name="Text 42"/>
          <p:cNvSpPr/>
          <p:nvPr/>
        </p:nvSpPr>
        <p:spPr>
          <a:xfrm>
            <a:off x="12356232" y="6106567"/>
            <a:ext cx="112395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Arial" pitchFamily="34" charset="0"/>
                <a:ea typeface="Arial" pitchFamily="34" charset="-122"/>
                <a:cs typeface="Arial" pitchFamily="34" charset="-120"/>
              </a:rPr>
              <a:t>Maint.</a:t>
            </a:r>
            <a:endParaRPr lang="en-US" sz="1800" dirty="0"/>
          </a:p>
        </p:txBody>
      </p:sp>
      <p:sp>
        <p:nvSpPr>
          <p:cNvPr id="47" name="Text 43"/>
          <p:cNvSpPr/>
          <p:nvPr/>
        </p:nvSpPr>
        <p:spPr>
          <a:xfrm>
            <a:off x="13518282" y="6106567"/>
            <a:ext cx="358068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575757"/>
                </a:solidFill>
                <a:latin typeface="Arial" pitchFamily="34" charset="0"/>
                <a:ea typeface="Arial" pitchFamily="34" charset="-122"/>
                <a:cs typeface="Arial" pitchFamily="34" charset="-120"/>
              </a:rPr>
              <a:t>procedure retrieved</a:t>
            </a:r>
            <a:endParaRPr lang="en-US" sz="1800" dirty="0"/>
          </a:p>
        </p:txBody>
      </p:sp>
      <p:sp>
        <p:nvSpPr>
          <p:cNvPr id="48" name="Shape 44"/>
          <p:cNvSpPr/>
          <p:nvPr/>
        </p:nvSpPr>
        <p:spPr>
          <a:xfrm>
            <a:off x="11003682" y="6473279"/>
            <a:ext cx="5769769" cy="452438"/>
          </a:xfrm>
          <a:prstGeom prst="rect">
            <a:avLst/>
          </a:prstGeom>
          <a:solidFill>
            <a:srgbClr val="FDF0F0"/>
          </a:solidFill>
          <a:ln/>
        </p:spPr>
        <p:txBody>
          <a:bodyPr/>
          <a:lstStyle/>
          <a:p>
            <a:endParaRPr lang="en-DE"/>
          </a:p>
        </p:txBody>
      </p:sp>
      <p:sp>
        <p:nvSpPr>
          <p:cNvPr id="49" name="Text 45"/>
          <p:cNvSpPr/>
          <p:nvPr/>
        </p:nvSpPr>
        <p:spPr>
          <a:xfrm>
            <a:off x="11079882" y="6568529"/>
            <a:ext cx="1285875"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E63232"/>
                </a:solidFill>
                <a:latin typeface="Courier New" pitchFamily="34" charset="0"/>
                <a:ea typeface="Courier New" pitchFamily="34" charset="-122"/>
                <a:cs typeface="Courier New" pitchFamily="34" charset="-120"/>
              </a:rPr>
              <a:t>00:03.5</a:t>
            </a:r>
            <a:endParaRPr lang="en-US" sz="1800" dirty="0"/>
          </a:p>
        </p:txBody>
      </p:sp>
      <p:sp>
        <p:nvSpPr>
          <p:cNvPr id="50" name="Text 46"/>
          <p:cNvSpPr/>
          <p:nvPr/>
        </p:nvSpPr>
        <p:spPr>
          <a:xfrm>
            <a:off x="12356232" y="6568529"/>
            <a:ext cx="112395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E63232"/>
                </a:solidFill>
                <a:latin typeface="Arial" pitchFamily="34" charset="0"/>
                <a:ea typeface="Arial" pitchFamily="34" charset="-122"/>
                <a:cs typeface="Arial" pitchFamily="34" charset="-120"/>
              </a:rPr>
              <a:t>Guardrail</a:t>
            </a:r>
            <a:endParaRPr lang="en-US" sz="1800" dirty="0"/>
          </a:p>
        </p:txBody>
      </p:sp>
      <p:sp>
        <p:nvSpPr>
          <p:cNvPr id="51" name="Text 47"/>
          <p:cNvSpPr/>
          <p:nvPr/>
        </p:nvSpPr>
        <p:spPr>
          <a:xfrm>
            <a:off x="13518282" y="6568529"/>
            <a:ext cx="3580686" cy="300038"/>
          </a:xfrm>
          <a:prstGeom prst="rect">
            <a:avLst/>
          </a:prstGeom>
          <a:noFill/>
          <a:ln/>
        </p:spPr>
        <p:txBody>
          <a:bodyPr wrap="square" lIns="25400" tIns="25400" rIns="25400" bIns="25400" rtlCol="0" anchor="t">
            <a:normAutofit/>
          </a:bodyPr>
          <a:lstStyle/>
          <a:p>
            <a:pPr marL="0" indent="0" algn="l">
              <a:buNone/>
            </a:pPr>
            <a:r>
              <a:rPr lang="en-US" sz="1800" dirty="0">
                <a:solidFill>
                  <a:srgbClr val="0A0A0A"/>
                </a:solidFill>
                <a:latin typeface="Arial" pitchFamily="34" charset="0"/>
                <a:ea typeface="Arial" pitchFamily="34" charset="-122"/>
                <a:cs typeface="Arial" pitchFamily="34" charset="-120"/>
              </a:rPr>
              <a:t>valve action held</a:t>
            </a:r>
            <a:endParaRPr lang="en-US" sz="1800" dirty="0"/>
          </a:p>
        </p:txBody>
      </p:sp>
      <p:sp>
        <p:nvSpPr>
          <p:cNvPr id="52" name="Text 48"/>
          <p:cNvSpPr/>
          <p:nvPr/>
        </p:nvSpPr>
        <p:spPr>
          <a:xfrm>
            <a:off x="11003682" y="7156698"/>
            <a:ext cx="2235555" cy="300038"/>
          </a:xfrm>
          <a:prstGeom prst="rect">
            <a:avLst/>
          </a:prstGeom>
          <a:noFill/>
          <a:ln/>
        </p:spPr>
        <p:txBody>
          <a:bodyPr wrap="none" lIns="25400" tIns="25400" rIns="25400" bIns="25400" rtlCol="0" anchor="t">
            <a:normAutofit/>
          </a:bodyPr>
          <a:lstStyle/>
          <a:p>
            <a:pPr marL="0" indent="0" algn="l">
              <a:buNone/>
            </a:pPr>
            <a:r>
              <a:rPr lang="en-US" sz="1800" b="1" dirty="0">
                <a:solidFill>
                  <a:srgbClr val="0A0A0A"/>
                </a:solidFill>
                <a:latin typeface="Arial" pitchFamily="34" charset="0"/>
                <a:ea typeface="Arial" pitchFamily="34" charset="-122"/>
                <a:cs typeface="Arial" pitchFamily="34" charset="-120"/>
              </a:rPr>
              <a:t>GPU load · Dell XR</a:t>
            </a:r>
            <a:endParaRPr lang="en-US" sz="1800" dirty="0"/>
          </a:p>
        </p:txBody>
      </p:sp>
      <p:sp>
        <p:nvSpPr>
          <p:cNvPr id="53" name="Shape 49"/>
          <p:cNvSpPr/>
          <p:nvPr/>
        </p:nvSpPr>
        <p:spPr>
          <a:xfrm>
            <a:off x="13188404" y="7371531"/>
            <a:ext cx="263798" cy="125685"/>
          </a:xfrm>
          <a:prstGeom prst="rect">
            <a:avLst/>
          </a:prstGeom>
          <a:solidFill>
            <a:srgbClr val="007A99">
              <a:alpha val="50000"/>
            </a:srgbClr>
          </a:solidFill>
          <a:ln/>
        </p:spPr>
        <p:txBody>
          <a:bodyPr/>
          <a:lstStyle/>
          <a:p>
            <a:endParaRPr lang="en-DE"/>
          </a:p>
        </p:txBody>
      </p:sp>
      <p:sp>
        <p:nvSpPr>
          <p:cNvPr id="54" name="Shape 50"/>
          <p:cNvSpPr/>
          <p:nvPr/>
        </p:nvSpPr>
        <p:spPr>
          <a:xfrm>
            <a:off x="13490302" y="7308652"/>
            <a:ext cx="263872" cy="188565"/>
          </a:xfrm>
          <a:prstGeom prst="rect">
            <a:avLst/>
          </a:prstGeom>
          <a:solidFill>
            <a:srgbClr val="007A99">
              <a:alpha val="50000"/>
            </a:srgbClr>
          </a:solidFill>
          <a:ln/>
        </p:spPr>
        <p:txBody>
          <a:bodyPr/>
          <a:lstStyle/>
          <a:p>
            <a:endParaRPr lang="en-DE"/>
          </a:p>
        </p:txBody>
      </p:sp>
      <p:sp>
        <p:nvSpPr>
          <p:cNvPr id="55" name="Shape 51"/>
          <p:cNvSpPr/>
          <p:nvPr/>
        </p:nvSpPr>
        <p:spPr>
          <a:xfrm>
            <a:off x="13792274" y="7337971"/>
            <a:ext cx="263798" cy="159246"/>
          </a:xfrm>
          <a:prstGeom prst="rect">
            <a:avLst/>
          </a:prstGeom>
          <a:solidFill>
            <a:srgbClr val="007A99">
              <a:alpha val="50000"/>
            </a:srgbClr>
          </a:solidFill>
          <a:ln/>
        </p:spPr>
        <p:txBody>
          <a:bodyPr/>
          <a:lstStyle/>
          <a:p>
            <a:endParaRPr lang="en-DE"/>
          </a:p>
        </p:txBody>
      </p:sp>
      <p:sp>
        <p:nvSpPr>
          <p:cNvPr id="56" name="Shape 52"/>
          <p:cNvSpPr/>
          <p:nvPr/>
        </p:nvSpPr>
        <p:spPr>
          <a:xfrm>
            <a:off x="14094172" y="7237437"/>
            <a:ext cx="263872" cy="259779"/>
          </a:xfrm>
          <a:prstGeom prst="rect">
            <a:avLst/>
          </a:prstGeom>
          <a:solidFill>
            <a:srgbClr val="007A99">
              <a:alpha val="70000"/>
            </a:srgbClr>
          </a:solidFill>
          <a:ln/>
        </p:spPr>
        <p:txBody>
          <a:bodyPr/>
          <a:lstStyle/>
          <a:p>
            <a:endParaRPr lang="en-DE"/>
          </a:p>
        </p:txBody>
      </p:sp>
      <p:sp>
        <p:nvSpPr>
          <p:cNvPr id="57" name="Shape 53"/>
          <p:cNvSpPr/>
          <p:nvPr/>
        </p:nvSpPr>
        <p:spPr>
          <a:xfrm>
            <a:off x="14396145" y="7161981"/>
            <a:ext cx="263798" cy="335235"/>
          </a:xfrm>
          <a:prstGeom prst="rect">
            <a:avLst/>
          </a:prstGeom>
          <a:solidFill>
            <a:srgbClr val="007A99"/>
          </a:solidFill>
          <a:ln/>
        </p:spPr>
        <p:txBody>
          <a:bodyPr/>
          <a:lstStyle/>
          <a:p>
            <a:endParaRPr lang="en-DE"/>
          </a:p>
        </p:txBody>
      </p:sp>
      <p:sp>
        <p:nvSpPr>
          <p:cNvPr id="58" name="Shape 54"/>
          <p:cNvSpPr/>
          <p:nvPr/>
        </p:nvSpPr>
        <p:spPr>
          <a:xfrm>
            <a:off x="14698042" y="7195468"/>
            <a:ext cx="263872" cy="301749"/>
          </a:xfrm>
          <a:prstGeom prst="rect">
            <a:avLst/>
          </a:prstGeom>
          <a:solidFill>
            <a:srgbClr val="007A99"/>
          </a:solidFill>
          <a:ln/>
        </p:spPr>
        <p:txBody>
          <a:bodyPr/>
          <a:lstStyle/>
          <a:p>
            <a:endParaRPr lang="en-DE"/>
          </a:p>
        </p:txBody>
      </p:sp>
      <p:sp>
        <p:nvSpPr>
          <p:cNvPr id="59" name="Shape 55"/>
          <p:cNvSpPr/>
          <p:nvPr/>
        </p:nvSpPr>
        <p:spPr>
          <a:xfrm>
            <a:off x="15000015" y="7120086"/>
            <a:ext cx="263798" cy="377130"/>
          </a:xfrm>
          <a:prstGeom prst="rect">
            <a:avLst/>
          </a:prstGeom>
          <a:solidFill>
            <a:srgbClr val="007A99"/>
          </a:solidFill>
          <a:ln/>
        </p:spPr>
        <p:txBody>
          <a:bodyPr/>
          <a:lstStyle/>
          <a:p>
            <a:endParaRPr lang="en-DE"/>
          </a:p>
        </p:txBody>
      </p:sp>
      <p:sp>
        <p:nvSpPr>
          <p:cNvPr id="60" name="Shape 56"/>
          <p:cNvSpPr/>
          <p:nvPr/>
        </p:nvSpPr>
        <p:spPr>
          <a:xfrm>
            <a:off x="15301913" y="7220620"/>
            <a:ext cx="263872" cy="276597"/>
          </a:xfrm>
          <a:prstGeom prst="rect">
            <a:avLst/>
          </a:prstGeom>
          <a:solidFill>
            <a:srgbClr val="007A99"/>
          </a:solidFill>
          <a:ln/>
        </p:spPr>
        <p:txBody>
          <a:bodyPr/>
          <a:lstStyle/>
          <a:p>
            <a:endParaRPr lang="en-DE"/>
          </a:p>
        </p:txBody>
      </p:sp>
      <p:sp>
        <p:nvSpPr>
          <p:cNvPr id="61" name="Shape 57"/>
          <p:cNvSpPr/>
          <p:nvPr/>
        </p:nvSpPr>
        <p:spPr>
          <a:xfrm>
            <a:off x="15603885" y="7270924"/>
            <a:ext cx="263798" cy="226293"/>
          </a:xfrm>
          <a:prstGeom prst="rect">
            <a:avLst/>
          </a:prstGeom>
          <a:solidFill>
            <a:srgbClr val="007A99">
              <a:alpha val="70000"/>
            </a:srgbClr>
          </a:solidFill>
          <a:ln/>
        </p:spPr>
        <p:txBody>
          <a:bodyPr/>
          <a:lstStyle/>
          <a:p>
            <a:endParaRPr lang="en-DE"/>
          </a:p>
        </p:txBody>
      </p:sp>
      <p:sp>
        <p:nvSpPr>
          <p:cNvPr id="62" name="Shape 58"/>
          <p:cNvSpPr/>
          <p:nvPr/>
        </p:nvSpPr>
        <p:spPr>
          <a:xfrm>
            <a:off x="15905783" y="7178725"/>
            <a:ext cx="263872" cy="318492"/>
          </a:xfrm>
          <a:prstGeom prst="rect">
            <a:avLst/>
          </a:prstGeom>
          <a:solidFill>
            <a:srgbClr val="007A99"/>
          </a:solidFill>
          <a:ln/>
        </p:spPr>
        <p:txBody>
          <a:bodyPr/>
          <a:lstStyle/>
          <a:p>
            <a:endParaRPr lang="en-DE"/>
          </a:p>
        </p:txBody>
      </p:sp>
      <p:sp>
        <p:nvSpPr>
          <p:cNvPr id="63" name="Shape 59"/>
          <p:cNvSpPr/>
          <p:nvPr/>
        </p:nvSpPr>
        <p:spPr>
          <a:xfrm>
            <a:off x="16207755" y="7254180"/>
            <a:ext cx="263798" cy="243036"/>
          </a:xfrm>
          <a:prstGeom prst="rect">
            <a:avLst/>
          </a:prstGeom>
          <a:solidFill>
            <a:srgbClr val="007A99">
              <a:alpha val="70000"/>
            </a:srgbClr>
          </a:solidFill>
          <a:ln/>
        </p:spPr>
        <p:txBody>
          <a:bodyPr/>
          <a:lstStyle/>
          <a:p>
            <a:endParaRPr lang="en-DE"/>
          </a:p>
        </p:txBody>
      </p:sp>
      <p:sp>
        <p:nvSpPr>
          <p:cNvPr id="64" name="Shape 60"/>
          <p:cNvSpPr/>
          <p:nvPr/>
        </p:nvSpPr>
        <p:spPr>
          <a:xfrm>
            <a:off x="16509653" y="7329636"/>
            <a:ext cx="263798" cy="167580"/>
          </a:xfrm>
          <a:prstGeom prst="rect">
            <a:avLst/>
          </a:prstGeom>
          <a:solidFill>
            <a:srgbClr val="007A99">
              <a:alpha val="50000"/>
            </a:srgbClr>
          </a:solidFill>
          <a:ln/>
        </p:spPr>
        <p:txBody>
          <a:bodyPr/>
          <a:lstStyle/>
          <a:p>
            <a:endParaRPr lang="en-DE"/>
          </a:p>
        </p:txBody>
      </p:sp>
      <p:sp>
        <p:nvSpPr>
          <p:cNvPr id="65" name="Text 61"/>
          <p:cNvSpPr/>
          <p:nvPr/>
        </p:nvSpPr>
        <p:spPr>
          <a:xfrm>
            <a:off x="11003682" y="7873231"/>
            <a:ext cx="5942862" cy="678061"/>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575757"/>
                </a:solidFill>
                <a:latin typeface="Arial" pitchFamily="34" charset="0"/>
                <a:ea typeface="Arial" pitchFamily="34" charset="-122"/>
                <a:cs typeface="Arial" pitchFamily="34" charset="-120"/>
              </a:rPr>
              <a:t>Every hand-off, tool call, source and guardrail decision, live.</a:t>
            </a:r>
            <a:endParaRPr lang="en-US" sz="1800" dirty="0"/>
          </a:p>
        </p:txBody>
      </p:sp>
      <p:sp>
        <p:nvSpPr>
          <p:cNvPr id="66" name="Shape 62"/>
          <p:cNvSpPr/>
          <p:nvPr/>
        </p:nvSpPr>
        <p:spPr>
          <a:xfrm>
            <a:off x="1219200" y="9229725"/>
            <a:ext cx="15849600" cy="9525"/>
          </a:xfrm>
          <a:prstGeom prst="rect">
            <a:avLst/>
          </a:prstGeom>
          <a:solidFill>
            <a:srgbClr val="E5E5E5"/>
          </a:solidFill>
          <a:ln/>
        </p:spPr>
        <p:txBody>
          <a:bodyPr/>
          <a:lstStyle/>
          <a:p>
            <a:endParaRPr lang="en-DE"/>
          </a:p>
        </p:txBody>
      </p:sp>
      <p:pic>
        <p:nvPicPr>
          <p:cNvPr id="67" name="Image 2" descr="preencoded.png"/>
          <p:cNvPicPr>
            <a:picLocks noChangeAspect="1"/>
          </p:cNvPicPr>
          <p:nvPr/>
        </p:nvPicPr>
        <p:blipFill>
          <a:blip r:embed="rId5"/>
          <a:stretch>
            <a:fillRect/>
          </a:stretch>
        </p:blipFill>
        <p:spPr>
          <a:xfrm>
            <a:off x="1219200" y="9410700"/>
            <a:ext cx="1217563" cy="381000"/>
          </a:xfrm>
          <a:prstGeom prst="rect">
            <a:avLst/>
          </a:prstGeom>
        </p:spPr>
      </p:pic>
      <p:sp>
        <p:nvSpPr>
          <p:cNvPr id="68" name="Text 63"/>
          <p:cNvSpPr/>
          <p:nvPr/>
        </p:nvSpPr>
        <p:spPr>
          <a:xfrm>
            <a:off x="2608213" y="9436894"/>
            <a:ext cx="243111" cy="366713"/>
          </a:xfrm>
          <a:prstGeom prst="rect">
            <a:avLst/>
          </a:prstGeom>
          <a:noFill/>
          <a:ln/>
        </p:spPr>
        <p:txBody>
          <a:bodyPr wrap="square" lIns="25400" tIns="25400" rIns="25400" bIns="25400" rtlCol="0" anchor="t">
            <a:normAutofit/>
          </a:bodyPr>
          <a:lstStyle/>
          <a:p>
            <a:pPr marL="0" indent="0" algn="l">
              <a:buNone/>
            </a:pPr>
            <a:r>
              <a:rPr lang="en-US" sz="2250" dirty="0">
                <a:solidFill>
                  <a:srgbClr val="A0A0A0"/>
                </a:solidFill>
                <a:latin typeface="Arial" pitchFamily="34" charset="0"/>
                <a:ea typeface="Arial" pitchFamily="34" charset="-122"/>
                <a:cs typeface="Arial" pitchFamily="34" charset="-120"/>
              </a:rPr>
              <a:t>×</a:t>
            </a:r>
            <a:endParaRPr lang="en-US" sz="2250" dirty="0"/>
          </a:p>
        </p:txBody>
      </p:sp>
      <p:pic>
        <p:nvPicPr>
          <p:cNvPr id="69" name="Image 3" descr="preencoded.png"/>
          <p:cNvPicPr>
            <a:picLocks noChangeAspect="1"/>
          </p:cNvPicPr>
          <p:nvPr/>
        </p:nvPicPr>
        <p:blipFill>
          <a:blip r:embed="rId6"/>
          <a:stretch>
            <a:fillRect/>
          </a:stretch>
        </p:blipFill>
        <p:spPr>
          <a:xfrm>
            <a:off x="2946574" y="9486900"/>
            <a:ext cx="1749772" cy="228600"/>
          </a:xfrm>
          <a:prstGeom prst="rect">
            <a:avLst/>
          </a:prstGeom>
        </p:spPr>
      </p:pic>
      <p:sp>
        <p:nvSpPr>
          <p:cNvPr id="70" name="Text 64"/>
          <p:cNvSpPr/>
          <p:nvPr/>
        </p:nvSpPr>
        <p:spPr>
          <a:xfrm>
            <a:off x="5058296" y="9470231"/>
            <a:ext cx="2865678" cy="300038"/>
          </a:xfrm>
          <a:prstGeom prst="rect">
            <a:avLst/>
          </a:prstGeom>
          <a:noFill/>
          <a:ln/>
        </p:spPr>
        <p:txBody>
          <a:bodyPr wrap="square" lIns="25400" tIns="25400" rIns="25400" bIns="25400" rtlCol="0" anchor="t">
            <a:normAutofit/>
          </a:bodyPr>
          <a:lstStyle/>
          <a:p>
            <a:pPr marL="0" indent="0" algn="l">
              <a:buNone/>
            </a:pPr>
            <a:r>
              <a:rPr lang="en-US" sz="1800" dirty="0">
                <a:solidFill>
                  <a:srgbClr val="6B6B6B"/>
                </a:solidFill>
                <a:latin typeface="Arial" pitchFamily="34" charset="0"/>
                <a:ea typeface="Arial" pitchFamily="34" charset="-122"/>
                <a:cs typeface="Arial" pitchFamily="34" charset="-120"/>
              </a:rPr>
              <a:t>ADIPEC 2026, Abu Dhabi</a:t>
            </a:r>
            <a:endParaRPr lang="en-US" sz="1800" dirty="0"/>
          </a:p>
        </p:txBody>
      </p:sp>
      <p:sp>
        <p:nvSpPr>
          <p:cNvPr id="72" name="Text 66"/>
          <p:cNvSpPr/>
          <p:nvPr/>
        </p:nvSpPr>
        <p:spPr>
          <a:xfrm>
            <a:off x="16794435" y="9472613"/>
            <a:ext cx="35056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0A0A0A"/>
                </a:solidFill>
                <a:latin typeface="Courier New" pitchFamily="34" charset="0"/>
                <a:ea typeface="Courier New" pitchFamily="34" charset="-122"/>
                <a:cs typeface="Courier New" pitchFamily="34" charset="-120"/>
              </a:rPr>
              <a:t>04</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1393</Words>
  <Application>Microsoft Macintosh PowerPoint</Application>
  <PresentationFormat>Custom</PresentationFormat>
  <Paragraphs>129</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Courier New</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Simon Williams</cp:lastModifiedBy>
  <cp:revision>4</cp:revision>
  <dcterms:created xsi:type="dcterms:W3CDTF">2026-10-07T18:27:19Z</dcterms:created>
  <dcterms:modified xsi:type="dcterms:W3CDTF">2026-10-07T19:00:46Z</dcterms:modified>
</cp:coreProperties>
</file>